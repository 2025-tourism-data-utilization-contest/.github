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8" r:id="rId2"/>
    <p:sldId id="298" r:id="rId3"/>
    <p:sldId id="299" r:id="rId4"/>
    <p:sldId id="301" r:id="rId5"/>
    <p:sldId id="302" r:id="rId6"/>
    <p:sldId id="300" r:id="rId7"/>
    <p:sldId id="306" r:id="rId8"/>
    <p:sldId id="304" r:id="rId9"/>
    <p:sldId id="303" r:id="rId10"/>
    <p:sldId id="305" r:id="rId11"/>
    <p:sldId id="29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AFFFEE"/>
    <a:srgbClr val="01F5C0"/>
    <a:srgbClr val="031110"/>
    <a:srgbClr val="FF00FF"/>
    <a:srgbClr val="B9FFFF"/>
    <a:srgbClr val="7936AA"/>
    <a:srgbClr val="EADCF4"/>
    <a:srgbClr val="C5FFF3"/>
    <a:srgbClr val="97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8" autoAdjust="0"/>
    <p:restoredTop sz="94155" autoAdjust="0"/>
  </p:normalViewPr>
  <p:slideViewPr>
    <p:cSldViewPr snapToGrid="0">
      <p:cViewPr varScale="1">
        <p:scale>
          <a:sx n="116" d="100"/>
          <a:sy n="116" d="100"/>
        </p:scale>
        <p:origin x="368" y="184"/>
      </p:cViewPr>
      <p:guideLst>
        <p:guide orient="horz" pos="2115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fld id="{BFCFAAA1-2455-4ECC-A762-E5FCEAAFBE5B}" type="datetimeFigureOut">
              <a:rPr lang="ko-KR" altLang="en-US" smtClean="0"/>
              <a:pPr/>
              <a:t>2025. 8. 28.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fld id="{135F6D64-52FF-45DD-8A7A-637D88F6DD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607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 SemiBold" panose="02000703000000020004" pitchFamily="2" charset="-127"/>
        <a:ea typeface="Pretendard SemiBold" panose="02000703000000020004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5F6D64-52FF-45DD-8A7A-637D88F6DD65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8087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5F6D64-52FF-45DD-8A7A-637D88F6DD65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1956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F6D64-52FF-45DD-8A7A-637D88F6DD65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5768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5F6D64-52FF-45DD-8A7A-637D88F6DD65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7374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5F6D64-52FF-45DD-8A7A-637D88F6DD65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5564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F6D64-52FF-45DD-8A7A-637D88F6DD65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4243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5F6D64-52FF-45DD-8A7A-637D88F6DD65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2494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168458-7E1C-5199-5C8B-060E4596E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FDE102-3817-60ED-0A56-5A5383D38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A2F8E4-757B-19D4-923E-0A19E02CD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91C41-8E94-41F8-A763-160EB7759782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6C98B7-6D5D-9747-1BC1-870772855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CE488E-B305-97F5-86E6-88D391806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5B3F-2F88-42EE-B194-2DB0C54D6554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9" name="그룹 8"/>
          <p:cNvGrpSpPr/>
          <p:nvPr userDrawn="1"/>
        </p:nvGrpSpPr>
        <p:grpSpPr>
          <a:xfrm>
            <a:off x="0" y="-300037"/>
            <a:ext cx="12192000" cy="7158037"/>
            <a:chOff x="0" y="-300037"/>
            <a:chExt cx="12192000" cy="7158037"/>
          </a:xfrm>
        </p:grpSpPr>
        <p:pic>
          <p:nvPicPr>
            <p:cNvPr id="7" name="그림 6"/>
            <p:cNvPicPr>
              <a:picLocks noChangeAspect="1"/>
            </p:cNvPicPr>
            <p:nvPr userDrawn="1"/>
          </p:nvPicPr>
          <p:blipFill rotWithShape="1">
            <a:blip r:embed="rId2"/>
            <a:srcRect b="16028"/>
            <a:stretch/>
          </p:blipFill>
          <p:spPr>
            <a:xfrm>
              <a:off x="0" y="-300037"/>
              <a:ext cx="12192000" cy="6053138"/>
            </a:xfrm>
            <a:prstGeom prst="rect">
              <a:avLst/>
            </a:prstGeom>
          </p:spPr>
        </p:pic>
        <p:sp>
          <p:nvSpPr>
            <p:cNvPr id="8" name="직사각형 7"/>
            <p:cNvSpPr/>
            <p:nvPr userDrawn="1"/>
          </p:nvSpPr>
          <p:spPr>
            <a:xfrm>
              <a:off x="0" y="5753101"/>
              <a:ext cx="12192000" cy="1104899"/>
            </a:xfrm>
            <a:prstGeom prst="rect">
              <a:avLst/>
            </a:prstGeom>
            <a:solidFill>
              <a:srgbClr val="01F5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277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8EE7CD-6A2D-FF0A-E6F0-5653A1D79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DF3C5D-920F-27E3-EAAC-26A9D682D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75333D-97B6-C45F-49A7-3F28A837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69618-5B4B-44B8-99D7-DB98A8E6573E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FE9769-3C31-E5F4-47A0-A936F2944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65093F-EBF5-7AA3-F570-89FAD9DDC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C375B3F-2F88-42EE-B194-2DB0C54D65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734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772A36-5360-25E9-DD84-B2D3BF69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AEC5AD-02F2-5AA4-42A5-55BB80893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18A657-57B9-A080-486B-D0034D9F1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17877-724B-41FE-866C-D8AC2DE467F5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37DA13-62C2-74C5-C4D0-04D226032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D4D865-8A89-7E66-6E79-6478D825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5B3F-2F88-42EE-B194-2DB0C54D6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872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45A1A6-B8B8-2831-69AB-E3479DC02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78728C-2FEE-B0B0-344A-322161D97E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D10DD9-9D94-2110-A68C-B38613B79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4736F4-AF54-9673-B625-686B100BB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EE5D1-22C4-40FF-A11C-9DEADF617AED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364578-F2BC-BB25-B702-EA5C97E9D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5C2A61-5913-81CC-623D-F5699C2B2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5B3F-2F88-42EE-B194-2DB0C54D6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470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FEECE6-346F-B220-251A-FF84AD23D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39A01E-3F6E-D165-04DC-17E432720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A15618-C951-0D01-D6B0-39A9C1ECB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E7675FC-8A3F-58AA-9138-B50AC9272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C0D30D5-F113-C195-5367-6AE2EF2740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F46F51-7536-9558-3F82-E96DDE97D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6270-DE50-40B7-A8A8-0B14782D1E38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FC6EAE-A249-53CE-06FA-104B80CB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26179F-6FEA-F6E6-B71B-E8524184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5B3F-2F88-42EE-B194-2DB0C54D6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616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DCAA1B-C277-41A2-DE20-527D75E25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DA87E65-0571-D635-0ED8-F2777A2D5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5D005-D53C-4DC4-9EF7-85E2E139CCAA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852E5F-49DA-E8CE-B592-8435CE153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7C334D-2596-F35B-10EE-3508D39B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5B3F-2F88-42EE-B194-2DB0C54D6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370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449EE5-F73B-C4CB-59A2-41E59D496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5041-89D2-4388-B526-2E164BE15068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D314200-C48E-5755-04CE-F736C9055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4890ED-285E-9A61-79EA-7F6869A55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5B3F-2F88-42EE-B194-2DB0C54D6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72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17B70D-31A4-2790-A2DE-EC78AFE37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0778E8-D754-8E26-5600-9C151E6E4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789D3-A2CD-4232-0DC6-FC10F9DCB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21C4D3-4CE7-8249-CFB3-ED26C19D0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AB1C-B2DF-4EEF-8F45-CBC5B63B9553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8916AC-88FD-2B6E-DBDA-0CFF7925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EE0510-E5AD-9856-B809-3FFCDA3C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5B3F-2F88-42EE-B194-2DB0C54D6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506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D1EBB0-550B-8C02-8049-FC7B58CC6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56D8A8-62FF-C550-CBC3-0D71D79D3F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9A2769-CB93-3ED1-EEAA-B637A79BB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4057EF-B73B-621B-0629-0012F206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21ED1-3CBD-4932-946A-CC39911081D0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CD2D35-0136-EE59-30D4-586D53502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927742-5056-B0B4-27D5-91D1BE24D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5B3F-2F88-42EE-B194-2DB0C54D6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254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BB5D2B-8371-8431-65BF-58166E1E6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3DCCFB-747A-B0B8-9F39-6E1B592C9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9743BA-F02F-DB19-2D47-120C435E6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AC43E-FC46-44D6-84C9-35064A456D73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F371E5-2EBE-7E9E-B0A4-A40E255EA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EA7977-A1EE-1538-E915-0303B8769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5B3F-2F88-42EE-B194-2DB0C54D6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033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8D23D9-CF58-A8F3-6D24-0256193B90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F74119-55C6-8021-2A8A-743C639F8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31974-CBA7-E55B-B016-F00FBB5C2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88992-0424-4FAC-B72C-6927C434BEF7}" type="datetime1">
              <a:rPr lang="ko-KR" altLang="en-US" smtClean="0"/>
              <a:t>2025. 8. 28.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1774DA-E1CC-593F-1A05-DBE70EFD7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71DA1A-E92A-055D-3830-73909539C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5B3F-2F88-42EE-B194-2DB0C54D6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132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FFC62F06-C357-FCB5-7719-0E874D420E6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88C3A4C-4952-93D5-E98B-FC234AA46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57FCAA-9A90-C0D2-43A6-AA04FF331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958A94-09C3-FB43-FF96-F5FF33EEFD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fld id="{2BC97146-720B-4426-B7FC-99BB5C4FDC6B}" type="datetime1">
              <a:rPr lang="ko-KR" altLang="en-US" smtClean="0"/>
              <a:pPr/>
              <a:t>2025. 8. 28.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874F5D-5F33-2604-79D8-F1BB0CD5E0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8A2D4E-6D9C-58B2-7A26-28FF4FC41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</a:defRPr>
            </a:lvl1pPr>
          </a:lstStyle>
          <a:p>
            <a:fld id="{BC375B3F-2F88-42EE-B194-2DB0C54D655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4357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SemiBold" panose="02000703000000020004" pitchFamily="2" charset="-127"/>
          <a:ea typeface="Pretendard SemiBold" panose="02000703000000020004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SemiBold" panose="02000703000000020004" pitchFamily="2" charset="-127"/>
          <a:ea typeface="Pretendard SemiBold" panose="02000703000000020004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SemiBold" panose="02000703000000020004" pitchFamily="2" charset="-127"/>
          <a:ea typeface="Pretendard SemiBold" panose="02000703000000020004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SemiBold" panose="02000703000000020004" pitchFamily="2" charset="-127"/>
          <a:ea typeface="Pretendard SemiBold" panose="02000703000000020004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SemiBold" panose="02000703000000020004" pitchFamily="2" charset="-127"/>
          <a:ea typeface="Pretendard SemiBold" panose="02000703000000020004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SemiBold" panose="02000703000000020004" pitchFamily="2" charset="-127"/>
          <a:ea typeface="Pretendard SemiBold" panose="02000703000000020004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F553027-7159-BE68-B063-256E3E98F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5B3F-2F88-42EE-B194-2DB0C54D6554}" type="slidenum">
              <a:rPr lang="ko-KR" altLang="en-US" b="1" smtClean="0"/>
              <a:t>1</a:t>
            </a:fld>
            <a:endParaRPr lang="ko-KR" altLang="en-US" b="1" dirty="0"/>
          </a:p>
        </p:txBody>
      </p:sp>
      <p:sp>
        <p:nvSpPr>
          <p:cNvPr id="9" name="Google Shape;93;p1"/>
          <p:cNvSpPr txBox="1"/>
          <p:nvPr/>
        </p:nvSpPr>
        <p:spPr>
          <a:xfrm>
            <a:off x="2371725" y="5753100"/>
            <a:ext cx="3283822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i="0" u="none" strike="noStrike" cap="none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새록새록</a:t>
            </a:r>
            <a:endParaRPr sz="2500" dirty="0"/>
          </a:p>
        </p:txBody>
      </p:sp>
      <p:sp>
        <p:nvSpPr>
          <p:cNvPr id="12" name="사각형: 둥근 모서리 1">
            <a:extLst>
              <a:ext uri="{FF2B5EF4-FFF2-40B4-BE49-F238E27FC236}">
                <a16:creationId xmlns:a16="http://schemas.microsoft.com/office/drawing/2014/main" id="{2C021586-0D7D-4024-12D7-531A1798EA9C}"/>
              </a:ext>
            </a:extLst>
          </p:cNvPr>
          <p:cNvSpPr/>
          <p:nvPr/>
        </p:nvSpPr>
        <p:spPr>
          <a:xfrm>
            <a:off x="373779" y="6043291"/>
            <a:ext cx="1878989" cy="508642"/>
          </a:xfrm>
          <a:prstGeom prst="roundRect">
            <a:avLst>
              <a:gd name="adj" fmla="val 50000"/>
            </a:avLst>
          </a:prstGeom>
          <a:solidFill>
            <a:srgbClr val="031614"/>
          </a:solidFill>
          <a:ln w="28575">
            <a:solidFill>
              <a:srgbClr val="031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bg1"/>
                </a:solidFill>
              </a:rPr>
              <a:t>팀 명</a:t>
            </a:r>
          </a:p>
        </p:txBody>
      </p:sp>
      <p:sp>
        <p:nvSpPr>
          <p:cNvPr id="13" name="사각형: 둥근 모서리 1">
            <a:extLst>
              <a:ext uri="{FF2B5EF4-FFF2-40B4-BE49-F238E27FC236}">
                <a16:creationId xmlns:a16="http://schemas.microsoft.com/office/drawing/2014/main" id="{2C021586-0D7D-4024-12D7-531A1798EA9C}"/>
              </a:ext>
            </a:extLst>
          </p:cNvPr>
          <p:cNvSpPr/>
          <p:nvPr/>
        </p:nvSpPr>
        <p:spPr>
          <a:xfrm>
            <a:off x="5774479" y="6030270"/>
            <a:ext cx="1878989" cy="508642"/>
          </a:xfrm>
          <a:prstGeom prst="roundRect">
            <a:avLst>
              <a:gd name="adj" fmla="val 50000"/>
            </a:avLst>
          </a:prstGeom>
          <a:solidFill>
            <a:srgbClr val="031614"/>
          </a:solidFill>
          <a:ln w="28575">
            <a:solidFill>
              <a:srgbClr val="031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bg1"/>
                </a:solidFill>
              </a:rPr>
              <a:t>서비스명</a:t>
            </a:r>
          </a:p>
        </p:txBody>
      </p:sp>
      <p:sp>
        <p:nvSpPr>
          <p:cNvPr id="14" name="Google Shape;93;p1"/>
          <p:cNvSpPr txBox="1"/>
          <p:nvPr/>
        </p:nvSpPr>
        <p:spPr>
          <a:xfrm>
            <a:off x="7772400" y="5736903"/>
            <a:ext cx="3283822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500" b="1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Showing</a:t>
            </a:r>
            <a:endParaRPr sz="2500" dirty="0"/>
          </a:p>
        </p:txBody>
      </p:sp>
    </p:spTree>
    <p:extLst>
      <p:ext uri="{BB962C8B-B14F-4D97-AF65-F5344CB8AC3E}">
        <p14:creationId xmlns:p14="http://schemas.microsoft.com/office/powerpoint/2010/main" val="214360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0"/>
            <a:ext cx="11963399" cy="800101"/>
          </a:xfrm>
        </p:spPr>
        <p:txBody>
          <a:bodyPr>
            <a:normAutofit/>
          </a:bodyPr>
          <a:lstStyle/>
          <a:p>
            <a:r>
              <a:rPr lang="en-US" altLang="ko-KR" sz="3000" b="1" dirty="0">
                <a:latin typeface="+mj-lt"/>
              </a:rPr>
              <a:t>1. </a:t>
            </a:r>
            <a:r>
              <a:rPr lang="ko-KR" altLang="en-US" sz="3000" b="1" dirty="0">
                <a:latin typeface="+mj-lt"/>
              </a:rPr>
              <a:t>팀 소개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5B3F-2F88-42EE-B194-2DB0C54D6554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14" name="Google Shape;109;p3"/>
          <p:cNvSpPr txBox="1"/>
          <p:nvPr/>
        </p:nvSpPr>
        <p:spPr>
          <a:xfrm>
            <a:off x="698497" y="4881014"/>
            <a:ext cx="10655302" cy="92923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600" b="1" dirty="0">
                <a:solidFill>
                  <a:srgbClr val="3F3F3F"/>
                </a:solidFill>
                <a:cs typeface="Calibri"/>
                <a:sym typeface="Calibri"/>
              </a:rPr>
              <a:t>&lt; </a:t>
            </a:r>
            <a:r>
              <a:rPr lang="ko-KR" altLang="en-US" sz="1600" b="1" dirty="0">
                <a:solidFill>
                  <a:srgbClr val="3F3F3F"/>
                </a:solidFill>
                <a:cs typeface="Calibri"/>
                <a:sym typeface="Calibri"/>
              </a:rPr>
              <a:t>팀 구성 작성 참고사항 </a:t>
            </a:r>
            <a:r>
              <a:rPr lang="en-US" altLang="ko-KR" sz="1600" b="1" dirty="0">
                <a:solidFill>
                  <a:srgbClr val="3F3F3F"/>
                </a:solidFill>
                <a:cs typeface="Calibri"/>
                <a:sym typeface="Calibri"/>
              </a:rPr>
              <a:t>&gt; </a:t>
            </a:r>
          </a:p>
          <a:p>
            <a:pPr lvl="0"/>
            <a:r>
              <a:rPr lang="en-US" sz="1600" b="1" dirty="0">
                <a:solidFill>
                  <a:srgbClr val="3F3F3F"/>
                </a:solidFill>
                <a:cs typeface="Calibri"/>
                <a:sym typeface="Calibri"/>
              </a:rPr>
              <a:t>* </a:t>
            </a:r>
            <a:r>
              <a:rPr lang="ko-KR" altLang="en-US" sz="1600" b="1" dirty="0"/>
              <a:t>팀원 추가는 불가하며</a:t>
            </a:r>
            <a:r>
              <a:rPr lang="en-US" altLang="ko-KR" sz="1600" b="1" dirty="0"/>
              <a:t>, </a:t>
            </a:r>
            <a:r>
              <a:rPr lang="ko-KR" altLang="en-US" sz="1600" b="1" dirty="0">
                <a:solidFill>
                  <a:srgbClr val="3F3F3F"/>
                </a:solidFill>
                <a:cs typeface="Calibri"/>
                <a:sym typeface="Calibri"/>
              </a:rPr>
              <a:t>하차한 팀원은 제외하고 작성</a:t>
            </a:r>
            <a:endParaRPr lang="en-US" altLang="ko-KR" sz="1600" b="1" dirty="0">
              <a:solidFill>
                <a:srgbClr val="3F3F3F"/>
              </a:solidFill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* </a:t>
            </a:r>
            <a:r>
              <a:rPr lang="ko-KR" altLang="en-US" sz="1600" b="1" dirty="0"/>
              <a:t>팀원 변경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대체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의 경우</a:t>
            </a:r>
            <a:r>
              <a:rPr lang="en-US" altLang="ko-KR" sz="1600" b="1" dirty="0"/>
              <a:t>,</a:t>
            </a:r>
            <a:r>
              <a:rPr lang="ko-KR" altLang="en-US" sz="1600" b="1" dirty="0"/>
              <a:t> 공모전 운영사무국에 별도 연락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승인된 경우만 반영 가능</a:t>
            </a:r>
            <a:endParaRPr sz="1600" b="1" dirty="0"/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66647"/>
              </p:ext>
            </p:extLst>
          </p:nvPr>
        </p:nvGraphicFramePr>
        <p:xfrm>
          <a:off x="698497" y="1403351"/>
          <a:ext cx="10655302" cy="33391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2186">
                  <a:extLst>
                    <a:ext uri="{9D8B030D-6E8A-4147-A177-3AD203B41FA5}">
                      <a16:colId xmlns:a16="http://schemas.microsoft.com/office/drawing/2014/main" val="2206569995"/>
                    </a:ext>
                  </a:extLst>
                </a:gridCol>
                <a:gridCol w="1522186">
                  <a:extLst>
                    <a:ext uri="{9D8B030D-6E8A-4147-A177-3AD203B41FA5}">
                      <a16:colId xmlns:a16="http://schemas.microsoft.com/office/drawing/2014/main" val="3313242874"/>
                    </a:ext>
                  </a:extLst>
                </a:gridCol>
                <a:gridCol w="1522186">
                  <a:extLst>
                    <a:ext uri="{9D8B030D-6E8A-4147-A177-3AD203B41FA5}">
                      <a16:colId xmlns:a16="http://schemas.microsoft.com/office/drawing/2014/main" val="2043044"/>
                    </a:ext>
                  </a:extLst>
                </a:gridCol>
                <a:gridCol w="1522186">
                  <a:extLst>
                    <a:ext uri="{9D8B030D-6E8A-4147-A177-3AD203B41FA5}">
                      <a16:colId xmlns:a16="http://schemas.microsoft.com/office/drawing/2014/main" val="4257497429"/>
                    </a:ext>
                  </a:extLst>
                </a:gridCol>
                <a:gridCol w="1522186">
                  <a:extLst>
                    <a:ext uri="{9D8B030D-6E8A-4147-A177-3AD203B41FA5}">
                      <a16:colId xmlns:a16="http://schemas.microsoft.com/office/drawing/2014/main" val="3201928104"/>
                    </a:ext>
                  </a:extLst>
                </a:gridCol>
                <a:gridCol w="1522186">
                  <a:extLst>
                    <a:ext uri="{9D8B030D-6E8A-4147-A177-3AD203B41FA5}">
                      <a16:colId xmlns:a16="http://schemas.microsoft.com/office/drawing/2014/main" val="1214588716"/>
                    </a:ext>
                  </a:extLst>
                </a:gridCol>
                <a:gridCol w="1522186">
                  <a:extLst>
                    <a:ext uri="{9D8B030D-6E8A-4147-A177-3AD203B41FA5}">
                      <a16:colId xmlns:a16="http://schemas.microsoft.com/office/drawing/2014/main" val="2794461386"/>
                    </a:ext>
                  </a:extLst>
                </a:gridCol>
              </a:tblGrid>
              <a:tr h="13325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1-1. </a:t>
                      </a:r>
                      <a:r>
                        <a:rPr lang="ko-KR" altLang="en-US" b="1" dirty="0"/>
                        <a:t>팀 명</a:t>
                      </a:r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just" latinLnBrk="1"/>
                      <a:r>
                        <a:rPr lang="ko-KR" altLang="en-US" dirty="0"/>
                        <a:t>새록새록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just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383796"/>
                  </a:ext>
                </a:extLst>
              </a:tr>
              <a:tr h="66886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1-2. </a:t>
                      </a:r>
                      <a:r>
                        <a:rPr lang="ko-KR" altLang="en-US" b="1" dirty="0"/>
                        <a:t>팀 구성</a:t>
                      </a:r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구 분</a:t>
                      </a:r>
                    </a:p>
                  </a:txBody>
                  <a:tcPr anchor="ctr">
                    <a:solidFill>
                      <a:srgbClr val="AFFFE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팀 대표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팀원</a:t>
                      </a:r>
                      <a:r>
                        <a:rPr lang="en-US" altLang="ko-KR" b="1" dirty="0"/>
                        <a:t>1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팀원</a:t>
                      </a:r>
                      <a:r>
                        <a:rPr lang="en-US" altLang="ko-KR" b="1" dirty="0"/>
                        <a:t>2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팀원</a:t>
                      </a:r>
                      <a:r>
                        <a:rPr lang="en-US" altLang="ko-KR" b="1" dirty="0"/>
                        <a:t>3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팀원</a:t>
                      </a:r>
                      <a:r>
                        <a:rPr lang="en-US" altLang="ko-KR" b="1" dirty="0"/>
                        <a:t>4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057555"/>
                  </a:ext>
                </a:extLst>
              </a:tr>
              <a:tr h="6688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이 </a:t>
                      </a:r>
                      <a:r>
                        <a:rPr lang="ko-KR" altLang="en-US" b="1" dirty="0" err="1"/>
                        <a:t>름</a:t>
                      </a:r>
                      <a:endParaRPr lang="ko-KR" altLang="en-US" b="1" dirty="0"/>
                    </a:p>
                  </a:txBody>
                  <a:tcPr anchor="ctr">
                    <a:solidFill>
                      <a:srgbClr val="AFFFE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박성민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김루시아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홍원택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김민상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7555879"/>
                  </a:ext>
                </a:extLst>
              </a:tr>
              <a:tr h="6688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역 할</a:t>
                      </a:r>
                    </a:p>
                  </a:txBody>
                  <a:tcPr anchor="ctr">
                    <a:solidFill>
                      <a:srgbClr val="AFFFE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UI/UX</a:t>
                      </a:r>
                      <a:r>
                        <a:rPr lang="ko-KR" altLang="en-US" dirty="0"/>
                        <a:t> 디자인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프론트엔드</a:t>
                      </a:r>
                      <a:r>
                        <a:rPr lang="ko-KR" altLang="en-US" dirty="0"/>
                        <a:t> 개발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백엔드</a:t>
                      </a:r>
                      <a:r>
                        <a:rPr lang="ko-KR" altLang="en-US" dirty="0"/>
                        <a:t> 개발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6246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758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0"/>
            <a:ext cx="11963399" cy="800101"/>
          </a:xfrm>
        </p:spPr>
        <p:txBody>
          <a:bodyPr>
            <a:normAutofit/>
          </a:bodyPr>
          <a:lstStyle/>
          <a:p>
            <a:r>
              <a:rPr lang="en-US" altLang="ko-KR" sz="3000" b="1" dirty="0">
                <a:latin typeface="+mj-lt"/>
              </a:rPr>
              <a:t>2. </a:t>
            </a:r>
            <a:r>
              <a:rPr lang="ko-KR" altLang="en-US" sz="3000" b="1" dirty="0">
                <a:latin typeface="+mj-lt"/>
              </a:rPr>
              <a:t>서비스 소개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5B3F-2F88-42EE-B194-2DB0C54D655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813763"/>
              </p:ext>
            </p:extLst>
          </p:nvPr>
        </p:nvGraphicFramePr>
        <p:xfrm>
          <a:off x="663569" y="1386975"/>
          <a:ext cx="10861680" cy="44899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6">
                  <a:extLst>
                    <a:ext uri="{9D8B030D-6E8A-4147-A177-3AD203B41FA5}">
                      <a16:colId xmlns:a16="http://schemas.microsoft.com/office/drawing/2014/main" val="1293300458"/>
                    </a:ext>
                  </a:extLst>
                </a:gridCol>
                <a:gridCol w="8829674">
                  <a:extLst>
                    <a:ext uri="{9D8B030D-6E8A-4147-A177-3AD203B41FA5}">
                      <a16:colId xmlns:a16="http://schemas.microsoft.com/office/drawing/2014/main" val="4131838691"/>
                    </a:ext>
                  </a:extLst>
                </a:gridCol>
              </a:tblGrid>
              <a:tr h="966497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b="1" dirty="0"/>
                        <a:t>2-1. </a:t>
                      </a:r>
                      <a:r>
                        <a:rPr lang="ko-KR" altLang="en-US" b="1" dirty="0"/>
                        <a:t>서비스명</a:t>
                      </a:r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b="1" baseline="0" dirty="0"/>
                        <a:t>‘Showing’ </a:t>
                      </a:r>
                      <a:r>
                        <a:rPr lang="en-US" altLang="ko-KR" baseline="0" dirty="0"/>
                        <a:t>- </a:t>
                      </a:r>
                      <a:r>
                        <a:rPr lang="ko-KR" altLang="en-US" baseline="0" dirty="0"/>
                        <a:t>탐조 테마 기반의 초등학생 단체 여행 </a:t>
                      </a:r>
                      <a:r>
                        <a:rPr lang="ko-KR" altLang="en-US" baseline="0" dirty="0" err="1"/>
                        <a:t>플래닝</a:t>
                      </a:r>
                      <a:r>
                        <a:rPr lang="ko-KR" altLang="en-US" baseline="0" dirty="0"/>
                        <a:t> 서비스</a:t>
                      </a:r>
                      <a:endParaRPr lang="en-US" altLang="ko-KR" baseline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284151"/>
                  </a:ext>
                </a:extLst>
              </a:tr>
              <a:tr h="10741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2-2. </a:t>
                      </a:r>
                      <a:r>
                        <a:rPr lang="ko-KR" altLang="en-US" b="1" dirty="0"/>
                        <a:t>서비스 유형</a:t>
                      </a:r>
                      <a:endParaRPr lang="en-US" altLang="ko-KR" b="1" dirty="0"/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dirty="0"/>
                        <a:t>앱 서비스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6240228"/>
                  </a:ext>
                </a:extLst>
              </a:tr>
              <a:tr h="24492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2-3. </a:t>
                      </a:r>
                      <a:r>
                        <a:rPr lang="ko-KR" altLang="en-US" b="1" dirty="0"/>
                        <a:t>서비스 개요</a:t>
                      </a:r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aseline="0" dirty="0"/>
                        <a:t>주요 탐조 명소 및 관광지의 안전도 정보를 제공하는</a:t>
                      </a:r>
                      <a:endParaRPr lang="en-US" altLang="ko-KR" baseline="0" dirty="0"/>
                    </a:p>
                    <a:p>
                      <a:pPr algn="just" latinLnBrk="1"/>
                      <a:r>
                        <a:rPr lang="ko-KR" altLang="en-US" baseline="0" dirty="0"/>
                        <a:t>초등학생 단체 여행 </a:t>
                      </a:r>
                      <a:r>
                        <a:rPr lang="ko-KR" altLang="en-US" baseline="0" dirty="0" err="1"/>
                        <a:t>플래닝</a:t>
                      </a:r>
                      <a:r>
                        <a:rPr lang="ko-KR" altLang="en-US" baseline="0" dirty="0"/>
                        <a:t> 서비스</a:t>
                      </a:r>
                      <a:endParaRPr lang="en-US" altLang="ko-KR" baseline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7447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6459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1" y="0"/>
            <a:ext cx="11963399" cy="800101"/>
          </a:xfrm>
        </p:spPr>
        <p:txBody>
          <a:bodyPr>
            <a:normAutofit/>
          </a:bodyPr>
          <a:lstStyle/>
          <a:p>
            <a:r>
              <a:rPr lang="en-US" altLang="ko-KR" sz="3000" b="1" dirty="0">
                <a:latin typeface="+mj-lt"/>
              </a:rPr>
              <a:t>3. </a:t>
            </a:r>
            <a:r>
              <a:rPr lang="ko-KR" altLang="en-US" sz="3000" b="1" dirty="0">
                <a:latin typeface="+mj-lt"/>
              </a:rPr>
              <a:t>서비스 상세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5B3F-2F88-42EE-B194-2DB0C54D6554}" type="slidenum">
              <a:rPr lang="ko-KR" altLang="en-US" smtClean="0"/>
              <a:pPr/>
              <a:t>4</a:t>
            </a:fld>
            <a:endParaRPr lang="ko-KR" altLang="en-US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159711"/>
              </p:ext>
            </p:extLst>
          </p:nvPr>
        </p:nvGraphicFramePr>
        <p:xfrm>
          <a:off x="663569" y="1386976"/>
          <a:ext cx="10861680" cy="44899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65431">
                  <a:extLst>
                    <a:ext uri="{9D8B030D-6E8A-4147-A177-3AD203B41FA5}">
                      <a16:colId xmlns:a16="http://schemas.microsoft.com/office/drawing/2014/main" val="1293300458"/>
                    </a:ext>
                  </a:extLst>
                </a:gridCol>
                <a:gridCol w="8096249">
                  <a:extLst>
                    <a:ext uri="{9D8B030D-6E8A-4147-A177-3AD203B41FA5}">
                      <a16:colId xmlns:a16="http://schemas.microsoft.com/office/drawing/2014/main" val="4131838691"/>
                    </a:ext>
                  </a:extLst>
                </a:gridCol>
              </a:tblGrid>
              <a:tr h="3765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3-1. </a:t>
                      </a:r>
                      <a:r>
                        <a:rPr lang="ko-KR" altLang="en-US" b="1" dirty="0"/>
                        <a:t>서비스</a:t>
                      </a:r>
                      <a:r>
                        <a:rPr lang="ko-KR" altLang="en-US" b="1" baseline="0" dirty="0"/>
                        <a:t> 개발 배경</a:t>
                      </a:r>
                      <a:endParaRPr lang="en-US" altLang="ko-KR" b="1" baseline="0" dirty="0"/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00000"/>
                        </a:lnSpc>
                        <a:buFont typeface="Wingdings" pitchFamily="2" charset="2"/>
                        <a:buNone/>
                      </a:pPr>
                      <a:r>
                        <a:rPr lang="ko-KR" altLang="en-US" b="1" dirty="0"/>
                        <a:t>안전 문제에 의한 현장체험학습 비율 감소</a:t>
                      </a:r>
                      <a:endParaRPr lang="en-US" altLang="ko-KR" b="1" dirty="0"/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600" dirty="0"/>
                        <a:t>백승아 의원실 통계에 따르면 </a:t>
                      </a:r>
                      <a:r>
                        <a:rPr lang="en-US" altLang="ko-KR" sz="1600" dirty="0"/>
                        <a:t>2025</a:t>
                      </a:r>
                      <a:r>
                        <a:rPr lang="ko-KR" altLang="en-US" sz="1600" dirty="0"/>
                        <a:t>년 </a:t>
                      </a:r>
                      <a:r>
                        <a:rPr lang="en-US" altLang="ko-KR" sz="1600" dirty="0"/>
                        <a:t>4</a:t>
                      </a:r>
                      <a:r>
                        <a:rPr lang="ko-KR" altLang="en-US" sz="1600" dirty="0"/>
                        <a:t>월 기준 전국 초</a:t>
                      </a:r>
                      <a:r>
                        <a:rPr lang="en-K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</a:t>
                      </a:r>
                      <a:r>
                        <a:rPr lang="en-K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</a:t>
                      </a:r>
                      <a:r>
                        <a:rPr lang="en-K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특수학원 </a:t>
                      </a:r>
                      <a:r>
                        <a:rPr lang="ko-KR" altLang="en-US" sz="1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교직원 </a:t>
                      </a:r>
                      <a:r>
                        <a:rPr lang="en-US" altLang="ko-KR" sz="1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6309</a:t>
                      </a:r>
                      <a:r>
                        <a:rPr lang="ko-KR" altLang="en-US" sz="1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 중 </a:t>
                      </a:r>
                      <a:r>
                        <a:rPr lang="en-US" altLang="ko-KR" sz="1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35.6%</a:t>
                      </a:r>
                      <a:r>
                        <a:rPr lang="ko-KR" altLang="en-US" sz="1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체험학습을 유보 혹은 전면 중단</a:t>
                      </a: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함</a:t>
                      </a:r>
                      <a:r>
                        <a:rPr lang="en-US" altLang="ko-K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많은 교직원들이 현장체험학습의 안전 문제에 부담을 느끼고 있는 상황</a:t>
                      </a:r>
                      <a:r>
                        <a:rPr lang="en-US" altLang="ko-K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just" latinLnBrk="1">
                        <a:lnSpc>
                          <a:spcPct val="100000"/>
                        </a:lnSpc>
                      </a:pPr>
                      <a:endParaRPr lang="en-US" altLang="ko-KR" dirty="0"/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b="1" dirty="0"/>
                        <a:t>높은 현장체험학습 요구도 및 만족도</a:t>
                      </a:r>
                      <a:endParaRPr lang="en-US" altLang="ko-KR" sz="1800" b="1" dirty="0"/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600" dirty="0"/>
                        <a:t>충북 </a:t>
                      </a:r>
                      <a:r>
                        <a:rPr lang="ko-KR" altLang="en-US" sz="1600" dirty="0" err="1"/>
                        <a:t>서현초</a:t>
                      </a:r>
                      <a:r>
                        <a:rPr lang="en-US" altLang="ko-KR" sz="1600" dirty="0"/>
                        <a:t>·</a:t>
                      </a:r>
                      <a:r>
                        <a:rPr lang="ko-KR" altLang="en-US" sz="1600" dirty="0" err="1"/>
                        <a:t>생명초중</a:t>
                      </a:r>
                      <a:r>
                        <a:rPr lang="en-US" altLang="ko-KR" sz="1600" dirty="0"/>
                        <a:t>·</a:t>
                      </a:r>
                      <a:r>
                        <a:rPr lang="ko-KR" altLang="en-US" sz="1600" dirty="0" err="1"/>
                        <a:t>오창중</a:t>
                      </a:r>
                      <a:r>
                        <a:rPr lang="en-US" altLang="ko-KR" sz="1600" dirty="0"/>
                        <a:t>·</a:t>
                      </a:r>
                      <a:r>
                        <a:rPr lang="ko-KR" altLang="en-US" sz="1600" dirty="0"/>
                        <a:t>용성중의 현장체험학습 희망 조사 결과</a:t>
                      </a:r>
                      <a:r>
                        <a:rPr lang="en-US" altLang="ko-KR" sz="1600" dirty="0"/>
                        <a:t>,</a:t>
                      </a:r>
                      <a:r>
                        <a:rPr lang="en-US" altLang="ko-KR" sz="1600" b="0" dirty="0"/>
                        <a:t> </a:t>
                      </a:r>
                      <a:r>
                        <a:rPr lang="ko-KR" altLang="en-US" sz="1600" b="0" dirty="0"/>
                        <a:t>학생 참여 </a:t>
                      </a:r>
                      <a:r>
                        <a:rPr lang="ko-KR" altLang="en-US" sz="1600" b="0" dirty="0" err="1"/>
                        <a:t>희망률은</a:t>
                      </a:r>
                      <a:r>
                        <a:rPr lang="ko-KR" altLang="en-US" sz="1600" b="0" dirty="0"/>
                        <a:t> 평균 </a:t>
                      </a:r>
                      <a:r>
                        <a:rPr lang="en-US" altLang="ko-KR" sz="1600" b="1" dirty="0"/>
                        <a:t>93.38%</a:t>
                      </a:r>
                      <a:r>
                        <a:rPr lang="ko-KR" altLang="en-US" sz="1600" dirty="0" err="1"/>
                        <a:t>으로</a:t>
                      </a:r>
                      <a:r>
                        <a:rPr lang="ko-KR" altLang="en-US" sz="1600" dirty="0"/>
                        <a:t> 나타남</a:t>
                      </a:r>
                      <a:r>
                        <a:rPr lang="en-US" altLang="ko-KR" sz="1600" dirty="0"/>
                        <a:t>.</a:t>
                      </a:r>
                      <a:r>
                        <a:rPr lang="ko-KR" altLang="en-US" sz="1600" dirty="0"/>
                        <a:t> </a:t>
                      </a:r>
                      <a:r>
                        <a:rPr lang="en-US" altLang="ko-KR" sz="1000" dirty="0"/>
                        <a:t>(2025</a:t>
                      </a:r>
                      <a:r>
                        <a:rPr lang="ko-KR" altLang="en-US" sz="1000" dirty="0"/>
                        <a:t>년도 </a:t>
                      </a:r>
                      <a:r>
                        <a:rPr lang="en-US" altLang="ko-KR" sz="1000" dirty="0"/>
                        <a:t>1</a:t>
                      </a:r>
                      <a:r>
                        <a:rPr lang="ko-KR" altLang="en-US" sz="1000" dirty="0"/>
                        <a:t>학기 현장체험학습 희망 조사</a:t>
                      </a:r>
                      <a:r>
                        <a:rPr lang="en-US" altLang="ko-KR" sz="1000" dirty="0"/>
                        <a:t>)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600" dirty="0" err="1"/>
                        <a:t>전북특별자치도교육청의</a:t>
                      </a:r>
                      <a:r>
                        <a:rPr lang="ko-KR" altLang="en-US" sz="1600" dirty="0"/>
                        <a:t> 현장체험학습 만족도 조사에 따르면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 각 학교의 학생들과 학부모들은 </a:t>
                      </a:r>
                      <a:r>
                        <a:rPr lang="en-US" altLang="ko-KR" sz="1600" b="1" dirty="0"/>
                        <a:t>90.03%</a:t>
                      </a:r>
                      <a:r>
                        <a:rPr lang="ko-KR" altLang="en-US" sz="1600" dirty="0"/>
                        <a:t>의 평균 만족도를 보여줌</a:t>
                      </a:r>
                      <a:r>
                        <a:rPr lang="en-US" altLang="ko-KR" sz="1600" dirty="0"/>
                        <a:t>.</a:t>
                      </a:r>
                      <a:r>
                        <a:rPr lang="ko-KR" altLang="en-US" sz="1600" dirty="0"/>
                        <a:t> </a:t>
                      </a:r>
                      <a:r>
                        <a:rPr lang="en-US" altLang="ko-KR" sz="1000" dirty="0"/>
                        <a:t>(2025</a:t>
                      </a:r>
                      <a:r>
                        <a:rPr lang="ko-KR" altLang="en-US" sz="1000" dirty="0"/>
                        <a:t>년도 </a:t>
                      </a:r>
                      <a:r>
                        <a:rPr lang="en-US" altLang="ko-KR" sz="1000" dirty="0"/>
                        <a:t>5.19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~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7.19</a:t>
                      </a:r>
                      <a:r>
                        <a:rPr lang="ko-KR" altLang="en-US" sz="1000" dirty="0"/>
                        <a:t> 현장체험학습 만족도 조사</a:t>
                      </a:r>
                      <a:r>
                        <a:rPr lang="en-US" altLang="ko-KR" sz="1000" dirty="0"/>
                        <a:t>)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600" dirty="0"/>
                        <a:t>교사들의 입장과 반대로 학생과 학부모들은 현장체험학습을 요하고 있음</a:t>
                      </a:r>
                      <a:r>
                        <a:rPr lang="en-US" altLang="ko-KR" sz="1600" dirty="0"/>
                        <a:t>.</a:t>
                      </a:r>
                      <a:r>
                        <a:rPr lang="ko-KR" altLang="en-US" sz="1600" dirty="0"/>
                        <a:t> 따라서 학생들이 만족하고 교사들의 안전 관리 업무를 지원할 수 있는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 </a:t>
                      </a:r>
                      <a:r>
                        <a:rPr lang="ko-KR" altLang="en-US" sz="1600" b="1" dirty="0"/>
                        <a:t>지속 가능한 현장체험 학습</a:t>
                      </a:r>
                      <a:r>
                        <a:rPr lang="ko-KR" altLang="en-US" sz="1600" dirty="0"/>
                        <a:t>을 위한 방안 마련이 요구됨</a:t>
                      </a:r>
                      <a:r>
                        <a:rPr lang="en-US" altLang="ko-KR" sz="16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284151"/>
                  </a:ext>
                </a:extLst>
              </a:tr>
              <a:tr h="7241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>
                          <a:solidFill>
                            <a:schemeClr val="tx1"/>
                          </a:solidFill>
                        </a:rPr>
                        <a:t>3-2. </a:t>
                      </a:r>
                      <a:r>
                        <a:rPr lang="ko-KR" altLang="en-US" b="1">
                          <a:solidFill>
                            <a:schemeClr val="tx1"/>
                          </a:solidFill>
                        </a:rPr>
                        <a:t>서비스 주 이용 대상</a:t>
                      </a:r>
                      <a:endParaRPr lang="en-US" altLang="ko-KR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현장체험학습을 준비하는 초등학교 교사와 초등학생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643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658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0"/>
            <a:ext cx="11963399" cy="800101"/>
          </a:xfrm>
        </p:spPr>
        <p:txBody>
          <a:bodyPr>
            <a:normAutofit/>
          </a:bodyPr>
          <a:lstStyle/>
          <a:p>
            <a:r>
              <a:rPr lang="en-US" altLang="ko-KR" sz="3000" b="1" dirty="0">
                <a:latin typeface="+mj-lt"/>
              </a:rPr>
              <a:t>3. </a:t>
            </a:r>
            <a:r>
              <a:rPr lang="ko-KR" altLang="en-US" sz="3000" b="1" dirty="0">
                <a:latin typeface="+mj-lt"/>
              </a:rPr>
              <a:t>서비스 상세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5B3F-2F88-42EE-B194-2DB0C54D6554}" type="slidenum">
              <a:rPr lang="ko-KR" altLang="en-US" smtClean="0"/>
              <a:pPr/>
              <a:t>5</a:t>
            </a:fld>
            <a:endParaRPr lang="ko-KR" altLang="en-US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399533"/>
              </p:ext>
            </p:extLst>
          </p:nvPr>
        </p:nvGraphicFramePr>
        <p:xfrm>
          <a:off x="663569" y="1386975"/>
          <a:ext cx="10861680" cy="44899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4431">
                  <a:extLst>
                    <a:ext uri="{9D8B030D-6E8A-4147-A177-3AD203B41FA5}">
                      <a16:colId xmlns:a16="http://schemas.microsoft.com/office/drawing/2014/main" val="1293300458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4131838691"/>
                    </a:ext>
                  </a:extLst>
                </a:gridCol>
                <a:gridCol w="6515099">
                  <a:extLst>
                    <a:ext uri="{9D8B030D-6E8A-4147-A177-3AD203B41FA5}">
                      <a16:colId xmlns:a16="http://schemas.microsoft.com/office/drawing/2014/main" val="2210045336"/>
                    </a:ext>
                  </a:extLst>
                </a:gridCol>
              </a:tblGrid>
              <a:tr h="25868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3-3. </a:t>
                      </a:r>
                      <a:r>
                        <a:rPr lang="ko-KR" altLang="en-US" b="1" dirty="0"/>
                        <a:t>서비스 기능</a:t>
                      </a:r>
                      <a:endParaRPr lang="en-US" altLang="ko-KR" b="1" dirty="0"/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ko-KR" altLang="en-US" b="1" dirty="0"/>
                        <a:t>탐조 테마 기반 여행 </a:t>
                      </a:r>
                      <a:r>
                        <a:rPr lang="ko-KR" altLang="en-US" b="1" dirty="0" err="1"/>
                        <a:t>플래닝</a:t>
                      </a:r>
                      <a:r>
                        <a:rPr lang="ko-KR" altLang="en-US" b="1" dirty="0"/>
                        <a:t> 및 공유</a:t>
                      </a:r>
                      <a:endParaRPr lang="en-US" altLang="ko-KR" b="1" dirty="0"/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ko-KR" altLang="en-US" sz="1400" dirty="0"/>
                        <a:t>주요 탐조지 및 연관 관광지를 통해 여행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 err="1"/>
                        <a:t>플래닝</a:t>
                      </a:r>
                      <a:r>
                        <a:rPr lang="en-US" altLang="ko-KR" sz="1400" dirty="0"/>
                        <a:t>.</a:t>
                      </a:r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ko-KR" altLang="en-US" sz="1400" dirty="0"/>
                        <a:t>플랜을 그룹에 공유하여 투표가 가능함</a:t>
                      </a:r>
                      <a:r>
                        <a:rPr lang="en-US" altLang="ko-KR" sz="1400" dirty="0"/>
                        <a:t>.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/>
                        <a:t>여행지 안전 정보 제공</a:t>
                      </a:r>
                      <a:endParaRPr lang="en-US" altLang="ko-KR" b="1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400" dirty="0"/>
                        <a:t>여행지의 혼잡도 정보를 통해 안전한 여행지를 선별하는 기능</a:t>
                      </a:r>
                      <a:r>
                        <a:rPr lang="en-US" altLang="ko-KR" sz="1400" dirty="0"/>
                        <a:t>.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/>
                        <a:t>학교별 탐조 활동 기록 및 공유</a:t>
                      </a:r>
                      <a:endParaRPr lang="en-US" altLang="ko-KR" b="1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400" dirty="0"/>
                        <a:t>그룹을 만들어 탐조 활동을 기록하고 공유하는 기능</a:t>
                      </a:r>
                      <a:r>
                        <a:rPr lang="en-US" altLang="ko-KR" sz="1400" dirty="0"/>
                        <a:t>.</a:t>
                      </a:r>
                      <a:endParaRPr lang="ko-KR" alt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b="1" dirty="0"/>
                        <a:t>기본 탐조 정보 제공</a:t>
                      </a:r>
                      <a:endParaRPr lang="en-US" altLang="ko-KR" b="1" dirty="0"/>
                    </a:p>
                    <a:p>
                      <a:pPr marL="285750" indent="-285750">
                        <a:buFont typeface="Wingdings" pitchFamily="2" charset="2"/>
                        <a:buChar char="§"/>
                      </a:pPr>
                      <a:r>
                        <a:rPr lang="ko-KR" altLang="en-US" sz="1400" dirty="0"/>
                        <a:t>탐조 입문자를 위한 가이드를 제공함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284151"/>
                  </a:ext>
                </a:extLst>
              </a:tr>
              <a:tr h="112871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3-4. </a:t>
                      </a:r>
                      <a:r>
                        <a:rPr lang="ko-KR" altLang="en-US" b="1" dirty="0"/>
                        <a:t>활용 </a:t>
                      </a:r>
                      <a:r>
                        <a:rPr lang="ko-KR" altLang="en-US" b="1" dirty="0" err="1"/>
                        <a:t>공공데이터</a:t>
                      </a:r>
                      <a:endParaRPr lang="en-US" altLang="ko-KR" b="1" dirty="0"/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600" b="1" baseline="0" dirty="0"/>
                        <a:t>한국관광공사 </a:t>
                      </a:r>
                      <a:endParaRPr lang="en-US" altLang="ko-KR" sz="1600" b="1" baseline="0" dirty="0"/>
                    </a:p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600" b="1" baseline="0" dirty="0" err="1"/>
                        <a:t>OpenAPI</a:t>
                      </a:r>
                      <a:r>
                        <a:rPr lang="en-US" altLang="ko-KR" sz="1600" b="1" baseline="0" dirty="0"/>
                        <a:t>(</a:t>
                      </a:r>
                      <a:r>
                        <a:rPr lang="en-US" altLang="ko-KR" sz="1600" b="1" baseline="0" dirty="0" err="1"/>
                        <a:t>TourAPI</a:t>
                      </a:r>
                      <a:r>
                        <a:rPr lang="en-US" altLang="ko-KR" sz="1600" b="1" baseline="0" dirty="0"/>
                        <a:t>)</a:t>
                      </a:r>
                    </a:p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600" b="1" baseline="0" dirty="0"/>
                        <a:t>★ 작성 필수</a:t>
                      </a:r>
                      <a:endParaRPr lang="en-US" altLang="ko-KR" sz="1600" b="1" baseline="0" dirty="0"/>
                    </a:p>
                  </a:txBody>
                  <a:tcPr anchor="ctr">
                    <a:solidFill>
                      <a:srgbClr val="AFFFEE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just" latinLnBrk="1">
                        <a:buFontTx/>
                        <a:buChar char="-"/>
                      </a:pPr>
                      <a:r>
                        <a:rPr lang="ko-KR" altLang="en-US" baseline="0" dirty="0"/>
                        <a:t>관광지 집중률 정보</a:t>
                      </a:r>
                      <a:endParaRPr lang="en-US" altLang="ko-KR" baseline="0" dirty="0"/>
                    </a:p>
                    <a:p>
                      <a:pPr marL="285750" indent="-285750" algn="just" latinLnBrk="1">
                        <a:buFontTx/>
                        <a:buChar char="-"/>
                      </a:pPr>
                      <a:r>
                        <a:rPr lang="ko-KR" altLang="en-US" baseline="0" dirty="0"/>
                        <a:t>관광지별 연관지 서비스</a:t>
                      </a:r>
                      <a:endParaRPr lang="en-US" altLang="ko-KR" baseline="0" dirty="0"/>
                    </a:p>
                    <a:p>
                      <a:pPr marL="285750" indent="-285750" algn="just" latinLnBrk="1">
                        <a:buFontTx/>
                        <a:buChar char="-"/>
                      </a:pPr>
                      <a:r>
                        <a:rPr lang="ko-KR" altLang="en-US" baseline="0" dirty="0"/>
                        <a:t>생태 관광 정보 서비스</a:t>
                      </a:r>
                      <a:endParaRPr lang="en-US" altLang="ko-KR" baseline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117387"/>
                  </a:ext>
                </a:extLst>
              </a:tr>
              <a:tr h="7743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600" b="1" baseline="0" dirty="0"/>
                        <a:t>기타 활용 데이터</a:t>
                      </a:r>
                      <a:endParaRPr lang="en-US" altLang="ko-KR" sz="1600" b="1" baseline="0" dirty="0"/>
                    </a:p>
                  </a:txBody>
                  <a:tcPr anchor="ctr">
                    <a:solidFill>
                      <a:srgbClr val="AFF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buFontTx/>
                        <a:buNone/>
                      </a:pPr>
                      <a:r>
                        <a:rPr lang="en-US" altLang="ko-KR" baseline="0" dirty="0"/>
                        <a:t>-</a:t>
                      </a:r>
                      <a:r>
                        <a:rPr lang="ko-KR" altLang="en-US" baseline="0" dirty="0"/>
                        <a:t> 환경부 생태관광 지역 정보</a:t>
                      </a:r>
                      <a:endParaRPr lang="en-US" altLang="ko-KR" baseline="0" dirty="0"/>
                    </a:p>
                    <a:p>
                      <a:pPr marL="0" indent="0" algn="just" latinLnBrk="1">
                        <a:buFontTx/>
                        <a:buNone/>
                      </a:pPr>
                      <a:r>
                        <a:rPr lang="en-US" altLang="ko-KR" baseline="0" dirty="0"/>
                        <a:t>-</a:t>
                      </a:r>
                      <a:r>
                        <a:rPr lang="ko-KR" altLang="en-US" baseline="0" dirty="0"/>
                        <a:t> 국립 생물 자원관 생물종정보</a:t>
                      </a:r>
                      <a:endParaRPr lang="en-US" altLang="ko-KR" baseline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1839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1015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0"/>
            <a:ext cx="11963399" cy="800101"/>
          </a:xfrm>
        </p:spPr>
        <p:txBody>
          <a:bodyPr>
            <a:normAutofit/>
          </a:bodyPr>
          <a:lstStyle/>
          <a:p>
            <a:r>
              <a:rPr lang="en-US" altLang="ko-KR" sz="3000" b="1" dirty="0">
                <a:latin typeface="+mj-lt"/>
              </a:rPr>
              <a:t>3. </a:t>
            </a:r>
            <a:r>
              <a:rPr lang="ko-KR" altLang="en-US" sz="3000" b="1" dirty="0">
                <a:latin typeface="+mj-lt"/>
              </a:rPr>
              <a:t>서비스 상세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5B3F-2F88-42EE-B194-2DB0C54D6554}" type="slidenum">
              <a:rPr lang="ko-KR" altLang="en-US" smtClean="0"/>
              <a:pPr/>
              <a:t>6</a:t>
            </a:fld>
            <a:endParaRPr lang="ko-KR" altLang="en-US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825450"/>
              </p:ext>
            </p:extLst>
          </p:nvPr>
        </p:nvGraphicFramePr>
        <p:xfrm>
          <a:off x="663569" y="1386975"/>
          <a:ext cx="10861680" cy="44899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2956">
                  <a:extLst>
                    <a:ext uri="{9D8B030D-6E8A-4147-A177-3AD203B41FA5}">
                      <a16:colId xmlns:a16="http://schemas.microsoft.com/office/drawing/2014/main" val="1293300458"/>
                    </a:ext>
                  </a:extLst>
                </a:gridCol>
                <a:gridCol w="8848724">
                  <a:extLst>
                    <a:ext uri="{9D8B030D-6E8A-4147-A177-3AD203B41FA5}">
                      <a16:colId xmlns:a16="http://schemas.microsoft.com/office/drawing/2014/main" val="4131838691"/>
                    </a:ext>
                  </a:extLst>
                </a:gridCol>
              </a:tblGrid>
              <a:tr h="44899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3-5. </a:t>
                      </a:r>
                      <a:r>
                        <a:rPr lang="ko-KR" altLang="en-US" b="1" dirty="0"/>
                        <a:t>서비스 설명</a:t>
                      </a:r>
                      <a:endParaRPr lang="en-US" altLang="ko-KR" b="1" dirty="0"/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b="1" dirty="0"/>
                        <a:t>탐조 테마 제공 기능</a:t>
                      </a:r>
                      <a:endParaRPr lang="en-US" altLang="ko-KR" b="1" baseline="0" dirty="0"/>
                    </a:p>
                    <a:p>
                      <a:pPr marL="285750" indent="-285750" algn="just" latinLnBrk="1">
                        <a:buFont typeface="Wingdings" pitchFamily="2" charset="2"/>
                        <a:buChar char="§"/>
                      </a:pPr>
                      <a:r>
                        <a:rPr lang="ko-KR" altLang="en-US" sz="1600" baseline="0" dirty="0"/>
                        <a:t>지도 위에 주요한 탐조 명소를 표시되며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특정 장소 선택 시 상세 내용을 확인할 수 있음</a:t>
                      </a:r>
                      <a:r>
                        <a:rPr lang="en-US" altLang="ko-KR" sz="1600" baseline="0" dirty="0"/>
                        <a:t>.</a:t>
                      </a:r>
                      <a:r>
                        <a:rPr lang="ko-KR" altLang="en-US" sz="1600" baseline="0" dirty="0"/>
                        <a:t> </a:t>
                      </a:r>
                      <a:r>
                        <a:rPr lang="en-US" altLang="ko-KR" sz="1600" baseline="0" dirty="0"/>
                        <a:t>(</a:t>
                      </a:r>
                      <a:r>
                        <a:rPr lang="ko-KR" altLang="en-US" sz="1600" baseline="0" dirty="0"/>
                        <a:t>관찰 가능한 새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장소 설명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주소 등</a:t>
                      </a:r>
                      <a:r>
                        <a:rPr lang="en-US" altLang="ko-KR" sz="1600" baseline="0" dirty="0"/>
                        <a:t>)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600" baseline="0" dirty="0"/>
                        <a:t>이를 통해 사용자는 단순한 장소가 아닌</a:t>
                      </a:r>
                      <a:r>
                        <a:rPr lang="en-US" altLang="ko-KR" sz="1600" baseline="0" dirty="0"/>
                        <a:t>,</a:t>
                      </a:r>
                      <a:r>
                        <a:rPr lang="ko-KR" altLang="en-US" sz="1600" baseline="0" dirty="0"/>
                        <a:t> 여행지의 스토리를 확인할 수 있음</a:t>
                      </a:r>
                      <a:r>
                        <a:rPr lang="en-US" altLang="ko-KR" sz="1600" baseline="0" dirty="0"/>
                        <a:t>.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dirty="0"/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b="1" dirty="0"/>
                        <a:t>내 주변 생태 관광지 제공 기능</a:t>
                      </a:r>
                      <a:endParaRPr lang="en-US" altLang="ko-KR" b="1" dirty="0"/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600" b="1" dirty="0"/>
                        <a:t>생태 관광 정보 </a:t>
                      </a:r>
                      <a:r>
                        <a:rPr lang="en-US" altLang="ko-KR" sz="1600" b="1" dirty="0"/>
                        <a:t>API</a:t>
                      </a:r>
                      <a:r>
                        <a:rPr lang="ko-KR" altLang="en-US" sz="1600" dirty="0" err="1"/>
                        <a:t>를</a:t>
                      </a:r>
                      <a:r>
                        <a:rPr lang="ko-KR" altLang="en-US" sz="1600" dirty="0"/>
                        <a:t> 통하여 내 주변의 생태 관광지 정보를 제공함</a:t>
                      </a:r>
                      <a:r>
                        <a:rPr lang="en-US" altLang="ko-KR" sz="1600" dirty="0"/>
                        <a:t>.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600" dirty="0"/>
                        <a:t>학교 주변의 생태 관광지를 파악하고 가벼운 단체 여행 계획 수립을 도움</a:t>
                      </a:r>
                      <a:r>
                        <a:rPr lang="en-US" altLang="ko-KR" sz="1600" dirty="0"/>
                        <a:t>.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600" dirty="0"/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b="1" dirty="0"/>
                        <a:t>여행 </a:t>
                      </a:r>
                      <a:r>
                        <a:rPr lang="ko-KR" altLang="en-US" b="1" dirty="0" err="1"/>
                        <a:t>플래닝</a:t>
                      </a:r>
                      <a:r>
                        <a:rPr lang="ko-KR" altLang="en-US" b="1" dirty="0"/>
                        <a:t> 및 공유 기능</a:t>
                      </a:r>
                      <a:endParaRPr lang="en-US" altLang="ko-KR" b="1" dirty="0"/>
                    </a:p>
                    <a:p>
                      <a:pPr marL="285750" indent="-285750" algn="just" latinLnBrk="1">
                        <a:buFont typeface="Wingdings" pitchFamily="2" charset="2"/>
                        <a:buChar char="§"/>
                      </a:pPr>
                      <a:r>
                        <a:rPr lang="ko-KR" altLang="en-US" sz="1600" baseline="0" dirty="0"/>
                        <a:t>탐조 테마 혹은 내 주변 생태 관광지를 기반으로 플랜 생성이 가능함</a:t>
                      </a:r>
                      <a:r>
                        <a:rPr lang="en-US" altLang="ko-KR" sz="1600" baseline="0" dirty="0"/>
                        <a:t>.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600" baseline="0" dirty="0"/>
                        <a:t>기반 장소 주변의 연관 관광 </a:t>
                      </a:r>
                      <a:r>
                        <a:rPr lang="ko-KR" altLang="en-US" sz="1600" baseline="0" dirty="0" err="1"/>
                        <a:t>정보을</a:t>
                      </a:r>
                      <a:r>
                        <a:rPr lang="ko-KR" altLang="en-US" sz="1600" baseline="0" dirty="0"/>
                        <a:t> 제공함</a:t>
                      </a:r>
                      <a:r>
                        <a:rPr lang="en-US" altLang="ko-KR" sz="1600" baseline="0" dirty="0"/>
                        <a:t>.</a:t>
                      </a:r>
                      <a:r>
                        <a:rPr lang="ko-KR" altLang="en-US" sz="1600" baseline="0" dirty="0"/>
                        <a:t> </a:t>
                      </a:r>
                      <a:r>
                        <a:rPr lang="ko-KR" altLang="en-US" sz="1600" b="1" baseline="0" dirty="0"/>
                        <a:t>관광지별 연관지 </a:t>
                      </a:r>
                      <a:r>
                        <a:rPr lang="en-US" altLang="ko-KR" sz="1600" b="1" baseline="0" dirty="0"/>
                        <a:t>API</a:t>
                      </a:r>
                      <a:r>
                        <a:rPr lang="ko-KR" altLang="en-US" sz="1600" baseline="0" dirty="0" err="1"/>
                        <a:t>를</a:t>
                      </a:r>
                      <a:r>
                        <a:rPr lang="ko-KR" altLang="en-US" sz="1600" baseline="0" dirty="0"/>
                        <a:t> 통하여 제공됨</a:t>
                      </a:r>
                      <a:r>
                        <a:rPr lang="en-US" altLang="ko-KR" sz="1600" baseline="0" dirty="0"/>
                        <a:t>.</a:t>
                      </a:r>
                    </a:p>
                    <a:p>
                      <a:pPr marL="285750" indent="-285750" algn="just" latinLnBrk="1">
                        <a:buFont typeface="Wingdings" pitchFamily="2" charset="2"/>
                        <a:buChar char="§"/>
                      </a:pPr>
                      <a:r>
                        <a:rPr lang="ko-KR" altLang="en-US" sz="1600" baseline="0" dirty="0"/>
                        <a:t>숙소와 교육 프로그램을 앱 내에서 예약 가능하도록 </a:t>
                      </a:r>
                      <a:r>
                        <a:rPr lang="en-US" altLang="ko-KR" sz="1600" baseline="0" dirty="0"/>
                        <a:t>A to Z </a:t>
                      </a:r>
                      <a:r>
                        <a:rPr lang="ko-KR" altLang="en-US" sz="1600" baseline="0" dirty="0"/>
                        <a:t>기능을 제공함</a:t>
                      </a:r>
                      <a:r>
                        <a:rPr lang="en-US" altLang="ko-KR" sz="1600" baseline="0" dirty="0"/>
                        <a:t>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600" i="1" baseline="0" dirty="0"/>
                        <a:t>•</a:t>
                      </a:r>
                      <a:r>
                        <a:rPr lang="ko-KR" altLang="en-US" sz="1600" i="1" baseline="0" dirty="0"/>
                        <a:t> 예시 </a:t>
                      </a:r>
                      <a:r>
                        <a:rPr lang="en-US" altLang="ko-KR" sz="1600" i="1" baseline="0" dirty="0"/>
                        <a:t>1) '</a:t>
                      </a:r>
                      <a:r>
                        <a:rPr lang="ko-KR" altLang="en-US" sz="1600" i="1" baseline="0" dirty="0"/>
                        <a:t>흑두루미가 날아드는 순천만 습지</a:t>
                      </a:r>
                      <a:r>
                        <a:rPr lang="en-US" altLang="ko-KR" sz="1600" i="1" baseline="0" dirty="0"/>
                        <a:t>' </a:t>
                      </a:r>
                      <a:r>
                        <a:rPr lang="ko-KR" altLang="en-US" sz="1600" i="1" baseline="0" dirty="0"/>
                        <a:t>기반으로 루트 생성 시</a:t>
                      </a:r>
                      <a:r>
                        <a:rPr lang="en-US" altLang="ko-KR" sz="1600" i="1" baseline="0" dirty="0"/>
                        <a:t>, </a:t>
                      </a:r>
                      <a:r>
                        <a:rPr lang="ko-KR" altLang="en-US" sz="1600" i="1" baseline="0" dirty="0"/>
                        <a:t>사용자는 인원수와 관광 일수를 입력함</a:t>
                      </a:r>
                      <a:r>
                        <a:rPr lang="en-US" altLang="ko-KR" sz="1600" i="1" baseline="0" dirty="0"/>
                        <a:t>. </a:t>
                      </a:r>
                      <a:r>
                        <a:rPr lang="ko-KR" altLang="en-US" sz="1600" i="1" baseline="0" dirty="0"/>
                        <a:t>사용자는 이를 바탕으로 순천만 습지 주변의 숙박 및 관광 명소를 </a:t>
                      </a:r>
                      <a:r>
                        <a:rPr lang="ko-KR" altLang="en-US" sz="1600" i="1" baseline="0" dirty="0" err="1"/>
                        <a:t>추천받음</a:t>
                      </a:r>
                      <a:r>
                        <a:rPr lang="en-US" altLang="ko-KR" sz="1600" i="1" baseline="0" dirty="0"/>
                        <a:t>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baseline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284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412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5056E-4107-23F0-14C7-8847A68A2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2CE781-345E-A435-BBD2-9C7E4E950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0"/>
            <a:ext cx="11963399" cy="800101"/>
          </a:xfrm>
        </p:spPr>
        <p:txBody>
          <a:bodyPr>
            <a:normAutofit/>
          </a:bodyPr>
          <a:lstStyle/>
          <a:p>
            <a:r>
              <a:rPr lang="en-US" altLang="ko-KR" sz="3000" b="1" dirty="0">
                <a:latin typeface="+mj-lt"/>
              </a:rPr>
              <a:t>3. </a:t>
            </a:r>
            <a:r>
              <a:rPr lang="ko-KR" altLang="en-US" sz="3000" b="1" dirty="0">
                <a:latin typeface="+mj-lt"/>
              </a:rPr>
              <a:t>서비스 상세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3CEB63-ECE4-750E-CCBE-9E1E99062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5B3F-2F88-42EE-B194-2DB0C54D6554}" type="slidenum">
              <a:rPr lang="ko-KR" altLang="en-US" smtClean="0"/>
              <a:pPr/>
              <a:t>7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8421848-6121-D250-5A36-CE970CC3B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173897"/>
              </p:ext>
            </p:extLst>
          </p:nvPr>
        </p:nvGraphicFramePr>
        <p:xfrm>
          <a:off x="663569" y="1386975"/>
          <a:ext cx="10861680" cy="44899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2956">
                  <a:extLst>
                    <a:ext uri="{9D8B030D-6E8A-4147-A177-3AD203B41FA5}">
                      <a16:colId xmlns:a16="http://schemas.microsoft.com/office/drawing/2014/main" val="1293300458"/>
                    </a:ext>
                  </a:extLst>
                </a:gridCol>
                <a:gridCol w="8848724">
                  <a:extLst>
                    <a:ext uri="{9D8B030D-6E8A-4147-A177-3AD203B41FA5}">
                      <a16:colId xmlns:a16="http://schemas.microsoft.com/office/drawing/2014/main" val="4131838691"/>
                    </a:ext>
                  </a:extLst>
                </a:gridCol>
              </a:tblGrid>
              <a:tr h="44899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3-5. </a:t>
                      </a:r>
                      <a:r>
                        <a:rPr lang="ko-KR" altLang="en-US" b="1" dirty="0"/>
                        <a:t>서비스 설명</a:t>
                      </a:r>
                      <a:endParaRPr lang="en-US" altLang="ko-KR" b="1" dirty="0"/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buFont typeface="Wingdings" pitchFamily="2" charset="2"/>
                        <a:buNone/>
                      </a:pPr>
                      <a:r>
                        <a:rPr lang="ko-KR" altLang="en-US" b="1" dirty="0"/>
                        <a:t>여행지 안전도 정보 제공</a:t>
                      </a:r>
                      <a:endParaRPr lang="en-US" altLang="ko-KR" b="1" baseline="0" dirty="0"/>
                    </a:p>
                    <a:p>
                      <a:pPr marL="285750" indent="-285750" algn="just" latinLnBrk="1">
                        <a:buFont typeface="Wingdings" pitchFamily="2" charset="2"/>
                        <a:buChar char="§"/>
                      </a:pPr>
                      <a:r>
                        <a:rPr lang="ko-KR" altLang="en-US" sz="1600" baseline="0" dirty="0"/>
                        <a:t>장소 상세 화면에서 안전도를 확인할 수 있음</a:t>
                      </a:r>
                      <a:r>
                        <a:rPr lang="en-US" altLang="ko-KR" sz="1600" baseline="0" dirty="0"/>
                        <a:t>.</a:t>
                      </a:r>
                    </a:p>
                    <a:p>
                      <a:pPr marL="285750" indent="-285750" algn="just" latinLnBrk="1">
                        <a:buFont typeface="Wingdings" pitchFamily="2" charset="2"/>
                        <a:buChar char="§"/>
                      </a:pPr>
                      <a:r>
                        <a:rPr lang="ko-KR" altLang="en-US" sz="1600" baseline="0" dirty="0"/>
                        <a:t>안전도는 </a:t>
                      </a:r>
                      <a:r>
                        <a:rPr lang="ko-KR" altLang="en-US" sz="1600" b="1" baseline="0" dirty="0"/>
                        <a:t>관광지 집중률 정보 </a:t>
                      </a:r>
                      <a:r>
                        <a:rPr lang="en-US" altLang="ko-KR" sz="1600" b="1" baseline="0" dirty="0"/>
                        <a:t>API</a:t>
                      </a:r>
                      <a:r>
                        <a:rPr lang="ko-KR" altLang="en-US" sz="1600" baseline="0" dirty="0"/>
                        <a:t>의 혼잡도를 기반으로 계산됨</a:t>
                      </a:r>
                      <a:r>
                        <a:rPr lang="en-US" altLang="ko-KR" sz="1600" baseline="0" dirty="0"/>
                        <a:t>.</a:t>
                      </a:r>
                    </a:p>
                    <a:p>
                      <a:pPr marL="285750" indent="-285750" algn="just" latinLnBrk="1">
                        <a:buFont typeface="Wingdings" pitchFamily="2" charset="2"/>
                        <a:buChar char="§"/>
                      </a:pPr>
                      <a:endParaRPr lang="en-US" altLang="ko-KR" sz="1800" baseline="0" dirty="0"/>
                    </a:p>
                    <a:p>
                      <a:pPr algn="just" latinLnBrk="1"/>
                      <a:r>
                        <a:rPr lang="ko-KR" altLang="en-US" b="1" dirty="0"/>
                        <a:t>학교별 탐조 활동 기록 및 공유</a:t>
                      </a:r>
                      <a:endParaRPr lang="en-US" altLang="ko-KR" b="1" dirty="0"/>
                    </a:p>
                    <a:p>
                      <a:pPr marL="285750" indent="-285750" algn="just" latinLnBrk="1">
                        <a:buFont typeface="Wingdings" pitchFamily="2" charset="2"/>
                        <a:buChar char="§"/>
                      </a:pPr>
                      <a:r>
                        <a:rPr lang="ko-KR" altLang="en-US" sz="1600" dirty="0"/>
                        <a:t>그룹을 생성하여 학교나 학급 단위로 앱 내부에서 소통할 수 있음</a:t>
                      </a:r>
                      <a:r>
                        <a:rPr lang="en-US" altLang="ko-KR" sz="1600" dirty="0"/>
                        <a:t>.</a:t>
                      </a:r>
                    </a:p>
                    <a:p>
                      <a:pPr marL="285750" indent="-285750" algn="just" latinLnBrk="1">
                        <a:buFont typeface="Wingdings" pitchFamily="2" charset="2"/>
                        <a:buChar char="§"/>
                      </a:pPr>
                      <a:r>
                        <a:rPr lang="ko-KR" altLang="en-US" sz="1600" dirty="0"/>
                        <a:t>그룹 내에서 탐조 활동을 기록하고 공유할 수 있음</a:t>
                      </a:r>
                      <a:r>
                        <a:rPr lang="en-US" altLang="ko-KR" sz="1600" dirty="0"/>
                        <a:t>.</a:t>
                      </a:r>
                    </a:p>
                    <a:p>
                      <a:pPr marL="285750" indent="-285750" algn="just" latinLnBrk="1">
                        <a:buFont typeface="Wingdings" pitchFamily="2" charset="2"/>
                        <a:buChar char="§"/>
                      </a:pPr>
                      <a:r>
                        <a:rPr lang="ko-KR" altLang="en-US" sz="1600" dirty="0"/>
                        <a:t>만들어진 플랜 또한 공유가 가능하며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 투표를 통해 최종 실행 플랜을 선정할 수 있음</a:t>
                      </a:r>
                      <a:r>
                        <a:rPr lang="en-US" altLang="ko-KR" sz="1600" dirty="0"/>
                        <a:t>.</a:t>
                      </a:r>
                    </a:p>
                    <a:p>
                      <a:pPr marL="285750" indent="-285750" algn="just" latinLnBrk="1">
                        <a:buFont typeface="Wingdings" pitchFamily="2" charset="2"/>
                        <a:buChar char="§"/>
                      </a:pPr>
                      <a:r>
                        <a:rPr lang="ko-KR" altLang="en-US" sz="1600" dirty="0"/>
                        <a:t>다른 학교에서 올린 탐조 기록을 확인 할 수 있으며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 학교별 기록 순위를 확인할 수 있음</a:t>
                      </a:r>
                      <a:r>
                        <a:rPr lang="en-US" altLang="ko-KR" sz="1600" dirty="0"/>
                        <a:t>.</a:t>
                      </a:r>
                    </a:p>
                    <a:p>
                      <a:pPr marL="0" indent="0" algn="just" latinLnBrk="1">
                        <a:buFont typeface="Wingdings" pitchFamily="2" charset="2"/>
                        <a:buNone/>
                      </a:pPr>
                      <a:endParaRPr lang="en-US" altLang="ko-KR" baseline="0" dirty="0"/>
                    </a:p>
                    <a:p>
                      <a:pPr algn="just" latinLnBrk="1"/>
                      <a:r>
                        <a:rPr lang="ko-KR" altLang="en-US" b="1" dirty="0"/>
                        <a:t>기본 탐조 정보 제공</a:t>
                      </a:r>
                    </a:p>
                    <a:p>
                      <a:pPr marL="285750" indent="-285750" algn="just" latinLnBrk="1">
                        <a:buFont typeface="Wingdings" pitchFamily="2" charset="2"/>
                        <a:buChar char="§"/>
                      </a:pPr>
                      <a:r>
                        <a:rPr lang="ko-KR" altLang="en-US" sz="1600" dirty="0"/>
                        <a:t>탐조 입문자를 위한 기본적인 가이드를 제공함</a:t>
                      </a:r>
                      <a:r>
                        <a:rPr lang="en-US" altLang="ko-KR" sz="1600" dirty="0"/>
                        <a:t>.</a:t>
                      </a:r>
                    </a:p>
                    <a:p>
                      <a:pPr marL="285750" indent="-285750" algn="just" latinLnBrk="1">
                        <a:buFont typeface="Wingdings" pitchFamily="2" charset="2"/>
                        <a:buChar char="§"/>
                      </a:pPr>
                      <a:r>
                        <a:rPr lang="ko-KR" altLang="en-US" sz="1600" dirty="0"/>
                        <a:t>최소한의 준비물 및 에티켓을 아이들도 알기 쉽게 그림으로 알려줌</a:t>
                      </a:r>
                      <a:r>
                        <a:rPr lang="en-US" altLang="ko-KR" sz="16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284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231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0"/>
            <a:ext cx="11963399" cy="800101"/>
          </a:xfrm>
        </p:spPr>
        <p:txBody>
          <a:bodyPr>
            <a:normAutofit/>
          </a:bodyPr>
          <a:lstStyle/>
          <a:p>
            <a:r>
              <a:rPr lang="en-US" altLang="ko-KR" sz="3000" b="1" dirty="0">
                <a:latin typeface="+mj-lt"/>
              </a:rPr>
              <a:t>3. </a:t>
            </a:r>
            <a:r>
              <a:rPr lang="ko-KR" altLang="en-US" sz="3000" b="1" dirty="0">
                <a:latin typeface="+mj-lt"/>
              </a:rPr>
              <a:t>서비스 상세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5B3F-2F88-42EE-B194-2DB0C54D6554}" type="slidenum">
              <a:rPr lang="ko-KR" altLang="en-US" smtClean="0"/>
              <a:pPr/>
              <a:t>8</a:t>
            </a:fld>
            <a:endParaRPr lang="ko-KR" altLang="en-US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824176"/>
              </p:ext>
            </p:extLst>
          </p:nvPr>
        </p:nvGraphicFramePr>
        <p:xfrm>
          <a:off x="663569" y="1386975"/>
          <a:ext cx="10861680" cy="44899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84506">
                  <a:extLst>
                    <a:ext uri="{9D8B030D-6E8A-4147-A177-3AD203B41FA5}">
                      <a16:colId xmlns:a16="http://schemas.microsoft.com/office/drawing/2014/main" val="1293300458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4131838691"/>
                    </a:ext>
                  </a:extLst>
                </a:gridCol>
                <a:gridCol w="6457949">
                  <a:extLst>
                    <a:ext uri="{9D8B030D-6E8A-4147-A177-3AD203B41FA5}">
                      <a16:colId xmlns:a16="http://schemas.microsoft.com/office/drawing/2014/main" val="1278322113"/>
                    </a:ext>
                  </a:extLst>
                </a:gridCol>
              </a:tblGrid>
              <a:tr h="95158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3-6. </a:t>
                      </a:r>
                      <a:r>
                        <a:rPr lang="ko-KR" altLang="en-US" b="1" dirty="0"/>
                        <a:t>지역 특화 서비스 내용</a:t>
                      </a:r>
                      <a:endParaRPr lang="en-US" altLang="ko-KR" b="1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/>
                        <a:t>* </a:t>
                      </a:r>
                      <a:r>
                        <a:rPr lang="ko-KR" altLang="en-US" sz="1600" b="1" dirty="0"/>
                        <a:t>가점 항목</a:t>
                      </a:r>
                      <a:r>
                        <a:rPr lang="en-US" altLang="ko-KR" sz="1600" b="1" dirty="0"/>
                        <a:t>(</a:t>
                      </a:r>
                      <a:r>
                        <a:rPr lang="ko-KR" altLang="en-US" sz="1600" b="1" dirty="0"/>
                        <a:t>선택 사항</a:t>
                      </a:r>
                      <a:r>
                        <a:rPr lang="en-US" altLang="ko-KR" sz="1600" b="1" dirty="0"/>
                        <a:t>)</a:t>
                      </a:r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baseline="0" dirty="0"/>
                        <a:t>특화 </a:t>
                      </a:r>
                      <a:r>
                        <a:rPr lang="ko-KR" altLang="en-US" b="1" baseline="0" dirty="0" err="1"/>
                        <a:t>지역명</a:t>
                      </a:r>
                      <a:endParaRPr lang="en-US" altLang="ko-KR" b="1" baseline="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baseline="0" dirty="0"/>
                        <a:t>* </a:t>
                      </a:r>
                      <a:r>
                        <a:rPr lang="ko-KR" altLang="en-US" sz="1600" b="1" baseline="0" dirty="0"/>
                        <a:t>서울 제외</a:t>
                      </a:r>
                      <a:endParaRPr lang="en-US" altLang="ko-KR" sz="1600" b="1" baseline="0" dirty="0"/>
                    </a:p>
                  </a:txBody>
                  <a:tcPr anchor="ctr">
                    <a:solidFill>
                      <a:srgbClr val="AFFF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aseline="0" dirty="0"/>
                        <a:t>해당사항 없음</a:t>
                      </a:r>
                      <a:endParaRPr lang="en-US" altLang="ko-KR" baseline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284151"/>
                  </a:ext>
                </a:extLst>
              </a:tr>
              <a:tr h="35383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b="1" baseline="0" dirty="0"/>
                        <a:t>구현 내용</a:t>
                      </a:r>
                      <a:endParaRPr lang="en-US" altLang="ko-KR" b="1" baseline="0" dirty="0"/>
                    </a:p>
                  </a:txBody>
                  <a:tcPr anchor="ctr">
                    <a:solidFill>
                      <a:srgbClr val="AFFF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aseline="0" dirty="0"/>
                        <a:t>해당사항 없음</a:t>
                      </a:r>
                      <a:endParaRPr lang="en-US" altLang="ko-KR" baseline="0" dirty="0"/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baseline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4082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599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0"/>
            <a:ext cx="11963399" cy="800101"/>
          </a:xfrm>
        </p:spPr>
        <p:txBody>
          <a:bodyPr>
            <a:normAutofit/>
          </a:bodyPr>
          <a:lstStyle/>
          <a:p>
            <a:r>
              <a:rPr lang="en-US" altLang="ko-KR" sz="3000" b="1" dirty="0">
                <a:latin typeface="+mj-lt"/>
              </a:rPr>
              <a:t>3. </a:t>
            </a:r>
            <a:r>
              <a:rPr lang="ko-KR" altLang="en-US" sz="3000" b="1" dirty="0">
                <a:latin typeface="+mj-lt"/>
              </a:rPr>
              <a:t>서비스 상세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5B3F-2F88-42EE-B194-2DB0C54D6554}" type="slidenum">
              <a:rPr lang="ko-KR" altLang="en-US" smtClean="0"/>
              <a:pPr/>
              <a:t>9</a:t>
            </a:fld>
            <a:endParaRPr lang="ko-KR" altLang="en-US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198627"/>
              </p:ext>
            </p:extLst>
          </p:nvPr>
        </p:nvGraphicFramePr>
        <p:xfrm>
          <a:off x="663569" y="1386975"/>
          <a:ext cx="10861680" cy="46224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8256">
                  <a:extLst>
                    <a:ext uri="{9D8B030D-6E8A-4147-A177-3AD203B41FA5}">
                      <a16:colId xmlns:a16="http://schemas.microsoft.com/office/drawing/2014/main" val="1293300458"/>
                    </a:ext>
                  </a:extLst>
                </a:gridCol>
                <a:gridCol w="8353424">
                  <a:extLst>
                    <a:ext uri="{9D8B030D-6E8A-4147-A177-3AD203B41FA5}">
                      <a16:colId xmlns:a16="http://schemas.microsoft.com/office/drawing/2014/main" val="4131838691"/>
                    </a:ext>
                  </a:extLst>
                </a:gridCol>
              </a:tblGrid>
              <a:tr h="2244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3-7. </a:t>
                      </a:r>
                      <a:r>
                        <a:rPr lang="ko-KR" altLang="en-US" b="1" dirty="0"/>
                        <a:t>서비스 독창성</a:t>
                      </a:r>
                      <a:endParaRPr lang="en-US" altLang="ko-KR" b="1" dirty="0"/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baseline="0" dirty="0"/>
                        <a:t>탐조 테마의 관광 서비스</a:t>
                      </a:r>
                      <a:endParaRPr lang="en-US" altLang="ko-KR" b="1" baseline="0" dirty="0"/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600" baseline="0" dirty="0"/>
                        <a:t>생태관광 중 오직 탐조 테마를 중심으로 관광지 정보를 제공함</a:t>
                      </a:r>
                      <a:r>
                        <a:rPr lang="en-US" altLang="ko-KR" sz="1600" baseline="0" dirty="0"/>
                        <a:t>.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600" baseline="0" dirty="0"/>
                        <a:t>탐조 기록 및 공유</a:t>
                      </a:r>
                      <a:r>
                        <a:rPr lang="en-US" altLang="ko-KR" sz="1600" baseline="0" dirty="0"/>
                        <a:t>,</a:t>
                      </a:r>
                      <a:r>
                        <a:rPr lang="ko-KR" altLang="en-US" sz="1600" baseline="0" dirty="0"/>
                        <a:t> 탐조 가이드 등 관광뿐 아니라 탐조를 돕는 기능들이 존재함</a:t>
                      </a:r>
                      <a:r>
                        <a:rPr lang="en-US" altLang="ko-KR" sz="1600" baseline="0" dirty="0"/>
                        <a:t>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b="1" baseline="0" dirty="0"/>
                        <a:t>여행지 안전 정보 제공</a:t>
                      </a:r>
                      <a:endParaRPr lang="en-US" altLang="ko-KR" b="1" baseline="0" dirty="0"/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600" baseline="0" dirty="0"/>
                        <a:t>여행지의 혼잡도를 기반으로 안전 정보를 제공함</a:t>
                      </a:r>
                      <a:r>
                        <a:rPr lang="en-US" altLang="ko-KR" sz="1600" baseline="0" dirty="0"/>
                        <a:t>.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600" baseline="0" dirty="0"/>
                        <a:t>안전도 수치를 통해 빠르게 관광지의 안전성을 파악할 수 있음</a:t>
                      </a:r>
                      <a:r>
                        <a:rPr lang="en-US" altLang="ko-KR" sz="1600" baseline="0" dirty="0"/>
                        <a:t>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800" b="1" baseline="0" dirty="0"/>
                        <a:t>단체로 만드는 여행 계획</a:t>
                      </a:r>
                      <a:endParaRPr lang="en-US" altLang="ko-KR" sz="1800" b="1" baseline="0" dirty="0"/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600" baseline="0" dirty="0"/>
                        <a:t>자신이 만든 여행 계획을 공유하고 그룹 내에서 투표가 가능함</a:t>
                      </a:r>
                      <a:r>
                        <a:rPr lang="en-US" altLang="ko-KR" sz="1600" baseline="0" dirty="0"/>
                        <a:t>.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600" baseline="0" dirty="0"/>
                        <a:t>이를 통해 아이들 주도의 현장체험학습 계획 수립이 가능함</a:t>
                      </a:r>
                      <a:r>
                        <a:rPr lang="en-US" altLang="ko-KR" sz="1600" baseline="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284151"/>
                  </a:ext>
                </a:extLst>
              </a:tr>
              <a:tr h="22449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3-8.</a:t>
                      </a:r>
                      <a:r>
                        <a:rPr lang="en-US" altLang="ko-KR" b="1" baseline="0" dirty="0"/>
                        <a:t> </a:t>
                      </a:r>
                      <a:r>
                        <a:rPr lang="ko-KR" altLang="en-US" b="1" baseline="0" dirty="0"/>
                        <a:t>서비스 발전 계획</a:t>
                      </a:r>
                      <a:endParaRPr lang="en-US" altLang="ko-KR" b="1" dirty="0"/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b="1" baseline="0" dirty="0"/>
                        <a:t>현장체험학습 용역 비즈니스 모델 적용</a:t>
                      </a:r>
                      <a:endParaRPr lang="en-US" altLang="ko-KR" b="1" baseline="0" dirty="0"/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600" baseline="0" dirty="0"/>
                        <a:t>추후 인증기관</a:t>
                      </a:r>
                      <a:r>
                        <a:rPr lang="en-US" altLang="ko-KR" sz="1600" baseline="0" dirty="0"/>
                        <a:t>·</a:t>
                      </a:r>
                      <a:r>
                        <a:rPr lang="ko-KR" altLang="en-US" sz="1600" baseline="0" dirty="0"/>
                        <a:t>버스</a:t>
                      </a:r>
                      <a:r>
                        <a:rPr lang="en-US" altLang="ko-KR" sz="1600" baseline="0" dirty="0"/>
                        <a:t>·</a:t>
                      </a:r>
                      <a:r>
                        <a:rPr lang="ko-KR" altLang="en-US" sz="1600" baseline="0" dirty="0"/>
                        <a:t>인솔인력을 포함한 현장체험학습 통합 프로그램을 기획</a:t>
                      </a:r>
                      <a:r>
                        <a:rPr lang="en-US" altLang="ko-KR" sz="1600" baseline="0" dirty="0"/>
                        <a:t>·</a:t>
                      </a:r>
                      <a:r>
                        <a:rPr lang="ko-KR" altLang="en-US" sz="1600" baseline="0" dirty="0"/>
                        <a:t>제안하는 </a:t>
                      </a:r>
                      <a:r>
                        <a:rPr lang="en-US" altLang="ko-KR" sz="1600" b="1" baseline="0" dirty="0"/>
                        <a:t>B2G </a:t>
                      </a:r>
                      <a:r>
                        <a:rPr lang="ko-KR" altLang="en-US" sz="1600" b="1" baseline="0" dirty="0"/>
                        <a:t>비즈니스 모델</a:t>
                      </a:r>
                      <a:r>
                        <a:rPr lang="ko-KR" altLang="en-US" sz="1600" baseline="0" dirty="0"/>
                        <a:t>을 적용할 수 있음</a:t>
                      </a:r>
                      <a:r>
                        <a:rPr lang="en-US" altLang="ko-KR" sz="1600" baseline="0" dirty="0"/>
                        <a:t>.</a:t>
                      </a:r>
                      <a:endParaRPr lang="en-US" altLang="ko-KR" baseline="0" dirty="0"/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baseline="0" dirty="0" err="1"/>
                        <a:t>바이오블리츠</a:t>
                      </a:r>
                      <a:r>
                        <a:rPr lang="ko-KR" altLang="en-US" b="1" baseline="0" dirty="0"/>
                        <a:t> 관광 전문 서비스로 확장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600" baseline="0" dirty="0"/>
                        <a:t>탐조는 큰 프로젝트의 시작 테마이며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해양생물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곤충 그리고 지질 등의 관광 테마로 확장이 가능함</a:t>
                      </a:r>
                      <a:r>
                        <a:rPr lang="en-US" altLang="ko-KR" sz="1600" baseline="0" dirty="0"/>
                        <a:t>.</a:t>
                      </a:r>
                    </a:p>
                    <a:p>
                      <a:pPr marL="285750" marR="0" lvl="0" indent="-28575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600" baseline="0" dirty="0"/>
                        <a:t>최종적으로 </a:t>
                      </a:r>
                      <a:r>
                        <a:rPr lang="ko-KR" altLang="en-US" sz="1600" baseline="0" dirty="0" err="1"/>
                        <a:t>바이오블리츠</a:t>
                      </a:r>
                      <a:r>
                        <a:rPr lang="ko-KR" altLang="en-US" sz="1600" baseline="0" dirty="0"/>
                        <a:t> 관광 정보를 정리하여 제공하는 플랫폼으로 발전할 수 있음</a:t>
                      </a:r>
                      <a:r>
                        <a:rPr lang="en-US" altLang="ko-KR" sz="1600" baseline="0" dirty="0"/>
                        <a:t>. </a:t>
                      </a:r>
                      <a:r>
                        <a:rPr lang="ko-KR" altLang="en-US" sz="1600" baseline="0" dirty="0"/>
                        <a:t>이는 교육 목적의 생태 관광 산업 활성화를 끌어낼 것으로 기대됨</a:t>
                      </a:r>
                      <a:r>
                        <a:rPr lang="en-US" altLang="ko-KR" sz="1600" baseline="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9401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6726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0"/>
            <a:ext cx="11963399" cy="800101"/>
          </a:xfrm>
        </p:spPr>
        <p:txBody>
          <a:bodyPr>
            <a:normAutofit/>
          </a:bodyPr>
          <a:lstStyle/>
          <a:p>
            <a:r>
              <a:rPr lang="en-US" altLang="ko-KR" sz="3000" b="1" dirty="0">
                <a:latin typeface="+mj-lt"/>
              </a:rPr>
              <a:t>4. </a:t>
            </a:r>
            <a:r>
              <a:rPr lang="ko-KR" altLang="en-US" sz="3000" b="1" dirty="0">
                <a:latin typeface="+mj-lt"/>
              </a:rPr>
              <a:t>서비스 흐름도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5B3F-2F88-42EE-B194-2DB0C54D6554}" type="slidenum">
              <a:rPr lang="ko-KR" altLang="en-US" smtClean="0"/>
              <a:pPr/>
              <a:t>10</a:t>
            </a:fld>
            <a:endParaRPr lang="ko-KR" altLang="en-US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219136"/>
              </p:ext>
            </p:extLst>
          </p:nvPr>
        </p:nvGraphicFramePr>
        <p:xfrm>
          <a:off x="368296" y="1093539"/>
          <a:ext cx="11385555" cy="51831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7111">
                  <a:extLst>
                    <a:ext uri="{9D8B030D-6E8A-4147-A177-3AD203B41FA5}">
                      <a16:colId xmlns:a16="http://schemas.microsoft.com/office/drawing/2014/main" val="1293300458"/>
                    </a:ext>
                  </a:extLst>
                </a:gridCol>
                <a:gridCol w="2277111">
                  <a:extLst>
                    <a:ext uri="{9D8B030D-6E8A-4147-A177-3AD203B41FA5}">
                      <a16:colId xmlns:a16="http://schemas.microsoft.com/office/drawing/2014/main" val="4131838691"/>
                    </a:ext>
                  </a:extLst>
                </a:gridCol>
                <a:gridCol w="2277111">
                  <a:extLst>
                    <a:ext uri="{9D8B030D-6E8A-4147-A177-3AD203B41FA5}">
                      <a16:colId xmlns:a16="http://schemas.microsoft.com/office/drawing/2014/main" val="1536941973"/>
                    </a:ext>
                  </a:extLst>
                </a:gridCol>
                <a:gridCol w="2277111">
                  <a:extLst>
                    <a:ext uri="{9D8B030D-6E8A-4147-A177-3AD203B41FA5}">
                      <a16:colId xmlns:a16="http://schemas.microsoft.com/office/drawing/2014/main" val="2461633104"/>
                    </a:ext>
                  </a:extLst>
                </a:gridCol>
                <a:gridCol w="2277111">
                  <a:extLst>
                    <a:ext uri="{9D8B030D-6E8A-4147-A177-3AD203B41FA5}">
                      <a16:colId xmlns:a16="http://schemas.microsoft.com/office/drawing/2014/main" val="2362258995"/>
                    </a:ext>
                  </a:extLst>
                </a:gridCol>
              </a:tblGrid>
              <a:tr h="566764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>
                          <a:latin typeface="+mn-lt"/>
                        </a:rPr>
                        <a:t>탐조 여행 루트 제작 및 공유 서비스 흐름도</a:t>
                      </a:r>
                      <a:endParaRPr lang="en-US" altLang="ko-KR" b="1" dirty="0">
                        <a:latin typeface="+mn-lt"/>
                      </a:endParaRPr>
                    </a:p>
                  </a:txBody>
                  <a:tcPr anchor="ctr">
                    <a:solidFill>
                      <a:srgbClr val="00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baseline="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baseline="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baseline="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baseline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284151"/>
                  </a:ext>
                </a:extLst>
              </a:tr>
              <a:tr h="29399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dirty="0">
                        <a:latin typeface="+mn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baseline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3998025"/>
                  </a:ext>
                </a:extLst>
              </a:tr>
              <a:tr h="150446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+mn-lt"/>
                        </a:rPr>
                        <a:t>1. </a:t>
                      </a:r>
                      <a:r>
                        <a:rPr lang="ko-KR" altLang="en-US" sz="1400" b="0" dirty="0">
                          <a:latin typeface="+mn-lt"/>
                        </a:rPr>
                        <a:t>사용자는 </a:t>
                      </a:r>
                      <a:r>
                        <a:rPr lang="ko-KR" altLang="en-US" sz="1400" b="1" dirty="0">
                          <a:latin typeface="+mn-lt"/>
                        </a:rPr>
                        <a:t>추천 탐조 테마</a:t>
                      </a:r>
                      <a:r>
                        <a:rPr lang="ko-KR" altLang="en-US" sz="1400" b="0" dirty="0">
                          <a:latin typeface="+mn-lt"/>
                        </a:rPr>
                        <a:t>를 지도에서 확인 할 수 있습니다</a:t>
                      </a:r>
                      <a:r>
                        <a:rPr lang="en-US" altLang="ko-KR" sz="1400" b="0" dirty="0">
                          <a:latin typeface="+mn-lt"/>
                        </a:rPr>
                        <a:t>.</a:t>
                      </a:r>
                      <a:r>
                        <a:rPr lang="ko-KR" altLang="en-US" sz="1400" b="0" dirty="0">
                          <a:latin typeface="+mn-lt"/>
                        </a:rPr>
                        <a:t> 이를 기반으로 여행 계획 만들기를 시작합니다</a:t>
                      </a:r>
                      <a:r>
                        <a:rPr lang="en-US" altLang="ko-KR" sz="1400" b="0" dirty="0">
                          <a:latin typeface="+mn-lt"/>
                        </a:rPr>
                        <a:t>.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baseline="0" dirty="0">
                          <a:latin typeface="+mn-lt"/>
                        </a:rPr>
                        <a:t>2.</a:t>
                      </a:r>
                      <a:r>
                        <a:rPr lang="ko-KR" altLang="en-US" sz="1400" b="0" baseline="0" dirty="0">
                          <a:latin typeface="+mn-lt"/>
                        </a:rPr>
                        <a:t> 혹은 </a:t>
                      </a:r>
                      <a:r>
                        <a:rPr lang="ko-KR" altLang="en-US" sz="1400" b="1" baseline="0" dirty="0">
                          <a:latin typeface="+mn-lt"/>
                        </a:rPr>
                        <a:t>내 주변 생태 관광지</a:t>
                      </a:r>
                      <a:r>
                        <a:rPr lang="ko-KR" altLang="en-US" sz="1400" b="0" baseline="0" dirty="0">
                          <a:latin typeface="+mn-lt"/>
                        </a:rPr>
                        <a:t>를 기반으로 여행 계획을 만들기를 시작합니다</a:t>
                      </a:r>
                      <a:r>
                        <a:rPr lang="en-US" altLang="ko-KR" sz="1400" b="0" baseline="0" dirty="0">
                          <a:latin typeface="+mn-lt"/>
                        </a:rPr>
                        <a:t>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baseline="0" dirty="0">
                          <a:latin typeface="+mn-lt"/>
                        </a:rPr>
                        <a:t>*생태 관광 정보 </a:t>
                      </a:r>
                      <a:r>
                        <a:rPr lang="en-US" altLang="ko-KR" sz="1200" b="0" baseline="0" dirty="0">
                          <a:latin typeface="+mn-lt"/>
                        </a:rPr>
                        <a:t>API</a:t>
                      </a:r>
                      <a:r>
                        <a:rPr lang="ko-KR" altLang="en-US" sz="1200" b="0" baseline="0" dirty="0" err="1">
                          <a:latin typeface="+mn-lt"/>
                        </a:rPr>
                        <a:t>를</a:t>
                      </a:r>
                      <a:r>
                        <a:rPr lang="ko-KR" altLang="en-US" sz="1200" b="0" baseline="0" dirty="0">
                          <a:latin typeface="+mn-lt"/>
                        </a:rPr>
                        <a:t> 통해 내 주변 생태 관광지 정보 제공</a:t>
                      </a:r>
                      <a:endParaRPr lang="en-US" altLang="ko-KR" sz="1200" b="0" baseline="0" dirty="0"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baseline="0" dirty="0">
                          <a:latin typeface="+mn-lt"/>
                        </a:rPr>
                        <a:t>3.</a:t>
                      </a:r>
                      <a:r>
                        <a:rPr lang="ko-KR" altLang="en-US" sz="1400" b="0" baseline="0" dirty="0">
                          <a:latin typeface="+mn-lt"/>
                        </a:rPr>
                        <a:t> 여행 인원과 일수를 설정합니다</a:t>
                      </a:r>
                      <a:r>
                        <a:rPr lang="en-US" altLang="ko-KR" sz="1400" b="0" baseline="0" dirty="0">
                          <a:latin typeface="+mn-lt"/>
                        </a:rPr>
                        <a:t>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baseline="0" dirty="0" err="1">
                          <a:latin typeface="+mn-lt"/>
                        </a:rPr>
                        <a:t>플래닝</a:t>
                      </a:r>
                      <a:r>
                        <a:rPr lang="ko-KR" altLang="en-US" sz="1400" b="0" baseline="0" dirty="0">
                          <a:latin typeface="+mn-lt"/>
                        </a:rPr>
                        <a:t> 중에는 여행지를 자유롭게 추가 삭제할 수 있습니다</a:t>
                      </a:r>
                      <a:r>
                        <a:rPr lang="en-US" altLang="ko-KR" sz="1400" b="0" baseline="0" dirty="0">
                          <a:latin typeface="+mn-lt"/>
                        </a:rPr>
                        <a:t>.</a:t>
                      </a:r>
                      <a:endParaRPr lang="en-US" altLang="ko-KR" sz="1200" b="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baseline="0" dirty="0">
                          <a:latin typeface="+mn-lt"/>
                        </a:rPr>
                        <a:t>4.</a:t>
                      </a:r>
                      <a:r>
                        <a:rPr lang="ko-KR" altLang="en-US" sz="1400" b="0" baseline="0" dirty="0">
                          <a:latin typeface="+mn-lt"/>
                        </a:rPr>
                        <a:t> 여행지 추가 시 </a:t>
                      </a:r>
                      <a:r>
                        <a:rPr lang="ko-KR" altLang="en-US" sz="1400" b="1" baseline="0" dirty="0">
                          <a:latin typeface="+mn-lt"/>
                        </a:rPr>
                        <a:t>기반 여행지 주변의 관광지</a:t>
                      </a:r>
                      <a:r>
                        <a:rPr lang="ko-KR" altLang="en-US" sz="1400" b="0" baseline="0" dirty="0">
                          <a:latin typeface="+mn-lt"/>
                        </a:rPr>
                        <a:t>가 추천됩니다</a:t>
                      </a:r>
                      <a:r>
                        <a:rPr lang="en-US" altLang="ko-KR" sz="1400" b="0" baseline="0" dirty="0">
                          <a:latin typeface="+mn-lt"/>
                        </a:rPr>
                        <a:t>.</a:t>
                      </a:r>
                      <a:r>
                        <a:rPr lang="ko-KR" altLang="en-US" sz="1400" b="0" baseline="0" dirty="0">
                          <a:latin typeface="+mn-lt"/>
                        </a:rPr>
                        <a:t> 또한 여행지 위험도 확인이 가능합니다</a:t>
                      </a:r>
                      <a:r>
                        <a:rPr lang="en-US" altLang="ko-KR" sz="1400" b="0" baseline="0" dirty="0">
                          <a:latin typeface="+mn-lt"/>
                        </a:rPr>
                        <a:t>.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baseline="0" dirty="0">
                          <a:latin typeface="+mn-lt"/>
                        </a:rPr>
                        <a:t>*관광지 집중률 정보 </a:t>
                      </a:r>
                      <a:r>
                        <a:rPr lang="en-US" altLang="ko-KR" sz="1200" b="0" baseline="0" dirty="0">
                          <a:latin typeface="+mn-lt"/>
                        </a:rPr>
                        <a:t>API</a:t>
                      </a:r>
                      <a:r>
                        <a:rPr lang="ko-KR" altLang="en-US" sz="1200" b="0" baseline="0" dirty="0" err="1">
                          <a:latin typeface="+mn-lt"/>
                        </a:rPr>
                        <a:t>를</a:t>
                      </a:r>
                      <a:r>
                        <a:rPr lang="ko-KR" altLang="en-US" sz="1200" b="0" baseline="0" dirty="0">
                          <a:latin typeface="+mn-lt"/>
                        </a:rPr>
                        <a:t> 활용하여 혼잡도 제공</a:t>
                      </a:r>
                      <a:endParaRPr lang="en-US" altLang="ko-KR" sz="1200" b="0" baseline="0" dirty="0"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baseline="0" dirty="0">
                          <a:latin typeface="+mn-lt"/>
                        </a:rPr>
                        <a:t>*관광지별 연관지 </a:t>
                      </a:r>
                      <a:r>
                        <a:rPr lang="en-US" altLang="ko-KR" sz="1200" b="0" baseline="0" dirty="0">
                          <a:latin typeface="+mn-lt"/>
                        </a:rPr>
                        <a:t>API</a:t>
                      </a:r>
                      <a:r>
                        <a:rPr lang="ko-KR" altLang="en-US" sz="1200" b="0" baseline="0" dirty="0" err="1">
                          <a:latin typeface="+mn-lt"/>
                        </a:rPr>
                        <a:t>를</a:t>
                      </a:r>
                      <a:r>
                        <a:rPr lang="ko-KR" altLang="en-US" sz="1200" b="0" baseline="0" dirty="0">
                          <a:latin typeface="+mn-lt"/>
                        </a:rPr>
                        <a:t> 활용하여 추가할 여행지 추천</a:t>
                      </a:r>
                      <a:endParaRPr lang="en-US" altLang="ko-KR" sz="1200" b="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baseline="0" dirty="0">
                          <a:latin typeface="+mn-lt"/>
                        </a:rPr>
                        <a:t>5.</a:t>
                      </a:r>
                      <a:r>
                        <a:rPr lang="ko-KR" altLang="en-US" sz="1400" b="0" baseline="0" dirty="0">
                          <a:latin typeface="+mn-lt"/>
                        </a:rPr>
                        <a:t> 만들어진 여행 계획은 그룹 내에서 공유하고 투표를 진행할 수 있습니다</a:t>
                      </a:r>
                      <a:r>
                        <a:rPr lang="en-US" altLang="ko-KR" sz="1400" b="0" baseline="0" dirty="0">
                          <a:latin typeface="+mn-lt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940189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41D2660-F4F5-3274-B99E-FF03BB55A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769" y="1708264"/>
            <a:ext cx="1060918" cy="28736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D1D4E7-17A0-E9D2-8C91-41456BDDD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00" y="1709197"/>
            <a:ext cx="1123972" cy="2871762"/>
          </a:xfrm>
          <a:prstGeom prst="rect">
            <a:avLst/>
          </a:prstGeom>
        </p:spPr>
      </p:pic>
      <p:pic>
        <p:nvPicPr>
          <p:cNvPr id="15" name="Picture 14" descr="A screenshot of a phone&#10;&#10;AI-generated content may be incorrect.">
            <a:extLst>
              <a:ext uri="{FF2B5EF4-FFF2-40B4-BE49-F238E27FC236}">
                <a16:creationId xmlns:a16="http://schemas.microsoft.com/office/drawing/2014/main" id="{4FE53E54-E759-C047-5432-46DA6724A9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62" y="1708264"/>
            <a:ext cx="1213041" cy="2882902"/>
          </a:xfrm>
          <a:prstGeom prst="rect">
            <a:avLst/>
          </a:prstGeom>
        </p:spPr>
      </p:pic>
      <p:pic>
        <p:nvPicPr>
          <p:cNvPr id="23" name="Picture 22" descr="A map with colorful pins&#10;&#10;AI-generated content may be incorrect.">
            <a:extLst>
              <a:ext uri="{FF2B5EF4-FFF2-40B4-BE49-F238E27FC236}">
                <a16:creationId xmlns:a16="http://schemas.microsoft.com/office/drawing/2014/main" id="{1C250184-09B0-31DB-BE84-25C4565012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23" y="1816933"/>
            <a:ext cx="1111235" cy="2410044"/>
          </a:xfrm>
          <a:prstGeom prst="rect">
            <a:avLst/>
          </a:prstGeom>
        </p:spPr>
      </p:pic>
      <p:pic>
        <p:nvPicPr>
          <p:cNvPr id="27" name="Picture 26" descr="A screenshot of a map&#10;&#10;AI-generated content may be incorrect.">
            <a:extLst>
              <a:ext uri="{FF2B5EF4-FFF2-40B4-BE49-F238E27FC236}">
                <a16:creationId xmlns:a16="http://schemas.microsoft.com/office/drawing/2014/main" id="{8256ED7A-1CF0-136B-922C-475B95DC52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858" y="1816933"/>
            <a:ext cx="1111675" cy="241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673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168DB-B003-626C-5D1A-1A7ECE7B3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C3AE00A-3E51-630C-A795-6ADEA7A82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3A1539FD-792F-AF0F-54BF-26D01C76E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75B3F-2F88-42EE-B194-2DB0C54D6554}" type="slidenum">
              <a:rPr lang="ko-KR" altLang="en-US" b="1" smtClean="0">
                <a:solidFill>
                  <a:schemeClr val="bg1"/>
                </a:solidFill>
              </a:rPr>
              <a:t>11</a:t>
            </a:fld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9413F0-8670-8922-3130-2F025EC43823}"/>
              </a:ext>
            </a:extLst>
          </p:cNvPr>
          <p:cNvSpPr txBox="1"/>
          <p:nvPr/>
        </p:nvSpPr>
        <p:spPr>
          <a:xfrm>
            <a:off x="329846" y="3244645"/>
            <a:ext cx="11532308" cy="539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200" b="1" dirty="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감사합니다</a:t>
            </a:r>
            <a:r>
              <a:rPr lang="en-US" altLang="ko-KR" sz="2200" b="1" dirty="0">
                <a:solidFill>
                  <a:schemeClr val="bg1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91145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3291</TotalTime>
  <Words>978</Words>
  <Application>Microsoft Macintosh PowerPoint</Application>
  <PresentationFormat>Widescreen</PresentationFormat>
  <Paragraphs>153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Pretendard ExtraBold</vt:lpstr>
      <vt:lpstr>Pretendard SemiBold</vt:lpstr>
      <vt:lpstr>Arial</vt:lpstr>
      <vt:lpstr>Calibri</vt:lpstr>
      <vt:lpstr>Wingdings</vt:lpstr>
      <vt:lpstr>Office 테마</vt:lpstr>
      <vt:lpstr>PowerPoint Presentation</vt:lpstr>
      <vt:lpstr>1. 팀 소개</vt:lpstr>
      <vt:lpstr>2. 서비스 소개</vt:lpstr>
      <vt:lpstr>3. 서비스 상세</vt:lpstr>
      <vt:lpstr>3. 서비스 상세</vt:lpstr>
      <vt:lpstr>3. 서비스 상세</vt:lpstr>
      <vt:lpstr>3. 서비스 상세</vt:lpstr>
      <vt:lpstr>3. 서비스 상세</vt:lpstr>
      <vt:lpstr>3. 서비스 상세</vt:lpstr>
      <vt:lpstr>4. 서비스 흐름도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영천 김</dc:creator>
  <cp:lastModifiedBy>박성민</cp:lastModifiedBy>
  <cp:revision>244</cp:revision>
  <dcterms:created xsi:type="dcterms:W3CDTF">2024-04-18T01:43:28Z</dcterms:created>
  <dcterms:modified xsi:type="dcterms:W3CDTF">2025-08-28T01:43:34Z</dcterms:modified>
</cp:coreProperties>
</file>